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imes New Roman Bold Italics" charset="1" panose="02020703060505090304"/>
      <p:regular r:id="rId18"/>
    </p:embeddedFont>
    <p:embeddedFont>
      <p:font typeface="Times New Roman Bold" charset="1" panose="02020803070505020304"/>
      <p:regular r:id="rId19"/>
    </p:embeddedFont>
    <p:embeddedFont>
      <p:font typeface="Calibri (MS) Bold" charset="1" panose="020F0702030404030204"/>
      <p:regular r:id="rId20"/>
    </p:embeddedFont>
    <p:embeddedFont>
      <p:font typeface="Calibri (MS)" charset="1" panose="020F0502020204030204"/>
      <p:regular r:id="rId21"/>
    </p:embeddedFont>
    <p:embeddedFont>
      <p:font typeface="Arimo Bold" charset="1" panose="020B0704020202020204"/>
      <p:regular r:id="rId22"/>
    </p:embeddedFont>
    <p:embeddedFont>
      <p:font typeface="Arimo" charset="1" panose="020B0604020202020204"/>
      <p:regular r:id="rId23"/>
    </p:embeddedFont>
    <p:embeddedFont>
      <p:font typeface="Times New Roman" charset="1" panose="02020603050405020304"/>
      <p:regular r:id="rId24"/>
    </p:embeddedFont>
    <p:embeddedFont>
      <p:font typeface="Roboto Bold" charset="1" panose="02000000000000000000"/>
      <p:regular r:id="rId25"/>
    </p:embeddedFont>
    <p:embeddedFont>
      <p:font typeface="Source Sans Pro" charset="1" panose="020B0503030403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18" Target="../media/image21.png" Type="http://schemas.openxmlformats.org/officeDocument/2006/relationships/image"/><Relationship Id="rId19" Target="../media/image22.svg" Type="http://schemas.openxmlformats.org/officeDocument/2006/relationships/image"/><Relationship Id="rId2" Target="../media/image5.png" Type="http://schemas.openxmlformats.org/officeDocument/2006/relationships/image"/><Relationship Id="rId20" Target="../media/image23.png" Type="http://schemas.openxmlformats.org/officeDocument/2006/relationships/image"/><Relationship Id="rId21" Target="../media/image24.svg" Type="http://schemas.openxmlformats.org/officeDocument/2006/relationships/image"/><Relationship Id="rId22" Target="../media/image25.png" Type="http://schemas.openxmlformats.org/officeDocument/2006/relationships/image"/><Relationship Id="rId23" Target="../media/image26.png" Type="http://schemas.openxmlformats.org/officeDocument/2006/relationships/image"/><Relationship Id="rId24" Target="../media/image27.png" Type="http://schemas.openxmlformats.org/officeDocument/2006/relationships/image"/><Relationship Id="rId25" Target="../media/image28.png" Type="http://schemas.openxmlformats.org/officeDocument/2006/relationships/image"/><Relationship Id="rId26" Target="../media/image29.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83408" y="7261765"/>
            <a:ext cx="2606135" cy="1439323"/>
            <a:chOff x="0" y="0"/>
            <a:chExt cx="3474847" cy="1919097"/>
          </a:xfrm>
        </p:grpSpPr>
        <p:sp>
          <p:nvSpPr>
            <p:cNvPr name="Freeform 3" id="3"/>
            <p:cNvSpPr/>
            <p:nvPr/>
          </p:nvSpPr>
          <p:spPr>
            <a:xfrm flipH="false" flipV="false" rot="0">
              <a:off x="0" y="0"/>
              <a:ext cx="3474847" cy="1919097"/>
            </a:xfrm>
            <a:custGeom>
              <a:avLst/>
              <a:gdLst/>
              <a:ahLst/>
              <a:cxnLst/>
              <a:rect r="r" b="b" t="t" l="l"/>
              <a:pathLst>
                <a:path h="1919097" w="3474847">
                  <a:moveTo>
                    <a:pt x="0" y="0"/>
                  </a:moveTo>
                  <a:lnTo>
                    <a:pt x="247650" y="0"/>
                  </a:lnTo>
                  <a:lnTo>
                    <a:pt x="247650" y="1580515"/>
                  </a:lnTo>
                  <a:lnTo>
                    <a:pt x="2980182" y="0"/>
                  </a:lnTo>
                  <a:lnTo>
                    <a:pt x="3474847" y="0"/>
                  </a:lnTo>
                  <a:lnTo>
                    <a:pt x="185801" y="1902460"/>
                  </a:lnTo>
                  <a:cubicBezTo>
                    <a:pt x="167005" y="1913382"/>
                    <a:pt x="145669" y="1919097"/>
                    <a:pt x="123952" y="1919097"/>
                  </a:cubicBezTo>
                  <a:cubicBezTo>
                    <a:pt x="55626" y="1919097"/>
                    <a:pt x="127" y="1863598"/>
                    <a:pt x="127" y="1795272"/>
                  </a:cubicBezTo>
                  <a:close/>
                </a:path>
              </a:pathLst>
            </a:custGeom>
            <a:solidFill>
              <a:srgbClr val="FF9514"/>
            </a:solidFill>
          </p:spPr>
        </p:sp>
      </p:grpSp>
      <p:grpSp>
        <p:nvGrpSpPr>
          <p:cNvPr name="Group 4" id="4"/>
          <p:cNvGrpSpPr/>
          <p:nvPr/>
        </p:nvGrpSpPr>
        <p:grpSpPr>
          <a:xfrm rot="0">
            <a:off x="15741649" y="3"/>
            <a:ext cx="1273969" cy="536543"/>
            <a:chOff x="0" y="0"/>
            <a:chExt cx="1698625" cy="715391"/>
          </a:xfrm>
        </p:grpSpPr>
        <p:sp>
          <p:nvSpPr>
            <p:cNvPr name="Freeform 5" id="5"/>
            <p:cNvSpPr/>
            <p:nvPr/>
          </p:nvSpPr>
          <p:spPr>
            <a:xfrm flipH="false" flipV="false" rot="0">
              <a:off x="0" y="0"/>
              <a:ext cx="1698625" cy="715391"/>
            </a:xfrm>
            <a:custGeom>
              <a:avLst/>
              <a:gdLst/>
              <a:ahLst/>
              <a:cxnLst/>
              <a:rect r="r" b="b" t="t" l="l"/>
              <a:pathLst>
                <a:path h="715391" w="1698625">
                  <a:moveTo>
                    <a:pt x="0" y="0"/>
                  </a:moveTo>
                  <a:lnTo>
                    <a:pt x="1698625" y="0"/>
                  </a:lnTo>
                  <a:lnTo>
                    <a:pt x="1696085" y="25146"/>
                  </a:lnTo>
                  <a:cubicBezTo>
                    <a:pt x="1615567" y="419100"/>
                    <a:pt x="1267079" y="715391"/>
                    <a:pt x="849376" y="715391"/>
                  </a:cubicBezTo>
                  <a:cubicBezTo>
                    <a:pt x="431673" y="715391"/>
                    <a:pt x="83185" y="419100"/>
                    <a:pt x="2540" y="25146"/>
                  </a:cubicBezTo>
                  <a:close/>
                </a:path>
              </a:pathLst>
            </a:custGeom>
            <a:solidFill>
              <a:srgbClr val="2CC3B4"/>
            </a:solidFill>
          </p:spPr>
        </p:sp>
      </p:grpSp>
      <p:grpSp>
        <p:nvGrpSpPr>
          <p:cNvPr name="Group 6" id="6"/>
          <p:cNvGrpSpPr/>
          <p:nvPr/>
        </p:nvGrpSpPr>
        <p:grpSpPr>
          <a:xfrm rot="0">
            <a:off x="1135002" y="329445"/>
            <a:ext cx="1822418" cy="1822418"/>
            <a:chOff x="0" y="0"/>
            <a:chExt cx="2429891" cy="2429891"/>
          </a:xfrm>
        </p:grpSpPr>
        <p:sp>
          <p:nvSpPr>
            <p:cNvPr name="Freeform 7" id="7" descr="Ecole Supérieure de Technologie Béni Mellal"/>
            <p:cNvSpPr/>
            <p:nvPr/>
          </p:nvSpPr>
          <p:spPr>
            <a:xfrm flipH="false" flipV="false" rot="0">
              <a:off x="0" y="0"/>
              <a:ext cx="2429891" cy="2429891"/>
            </a:xfrm>
            <a:custGeom>
              <a:avLst/>
              <a:gdLst/>
              <a:ahLst/>
              <a:cxnLst/>
              <a:rect r="r" b="b" t="t" l="l"/>
              <a:pathLst>
                <a:path h="2429891" w="2429891">
                  <a:moveTo>
                    <a:pt x="0" y="0"/>
                  </a:moveTo>
                  <a:lnTo>
                    <a:pt x="2429891" y="0"/>
                  </a:lnTo>
                  <a:lnTo>
                    <a:pt x="2429891" y="2429891"/>
                  </a:lnTo>
                  <a:lnTo>
                    <a:pt x="0" y="2429891"/>
                  </a:lnTo>
                  <a:lnTo>
                    <a:pt x="0" y="0"/>
                  </a:lnTo>
                  <a:close/>
                </a:path>
              </a:pathLst>
            </a:custGeom>
            <a:blipFill>
              <a:blip r:embed="rId2"/>
              <a:stretch>
                <a:fillRect l="0" t="0" r="0" b="0"/>
              </a:stretch>
            </a:blipFill>
          </p:spPr>
        </p:sp>
      </p:grpSp>
      <p:grpSp>
        <p:nvGrpSpPr>
          <p:cNvPr name="Group 8" id="8"/>
          <p:cNvGrpSpPr/>
          <p:nvPr/>
        </p:nvGrpSpPr>
        <p:grpSpPr>
          <a:xfrm rot="0">
            <a:off x="15325530" y="0"/>
            <a:ext cx="2169414" cy="760286"/>
            <a:chOff x="0" y="0"/>
            <a:chExt cx="2892552" cy="1013714"/>
          </a:xfrm>
        </p:grpSpPr>
        <p:sp>
          <p:nvSpPr>
            <p:cNvPr name="Freeform 9" id="9"/>
            <p:cNvSpPr/>
            <p:nvPr/>
          </p:nvSpPr>
          <p:spPr>
            <a:xfrm flipH="false" flipV="false" rot="0">
              <a:off x="0" y="0"/>
              <a:ext cx="2892552" cy="1013714"/>
            </a:xfrm>
            <a:custGeom>
              <a:avLst/>
              <a:gdLst/>
              <a:ahLst/>
              <a:cxnLst/>
              <a:rect r="r" b="b" t="t" l="l"/>
              <a:pathLst>
                <a:path h="1013714" w="2892552">
                  <a:moveTo>
                    <a:pt x="0" y="0"/>
                  </a:moveTo>
                  <a:lnTo>
                    <a:pt x="2892552" y="0"/>
                  </a:lnTo>
                  <a:lnTo>
                    <a:pt x="2892552" y="1013714"/>
                  </a:lnTo>
                  <a:lnTo>
                    <a:pt x="0" y="1013714"/>
                  </a:lnTo>
                  <a:close/>
                </a:path>
              </a:pathLst>
            </a:custGeom>
            <a:solidFill>
              <a:srgbClr val="FFFFFF"/>
            </a:solidFill>
          </p:spPr>
        </p:sp>
      </p:grpSp>
      <p:grpSp>
        <p:nvGrpSpPr>
          <p:cNvPr name="Group 10" id="10"/>
          <p:cNvGrpSpPr/>
          <p:nvPr/>
        </p:nvGrpSpPr>
        <p:grpSpPr>
          <a:xfrm rot="0">
            <a:off x="15464529" y="329445"/>
            <a:ext cx="1650206" cy="1826799"/>
            <a:chOff x="0" y="0"/>
            <a:chExt cx="2200275" cy="2435732"/>
          </a:xfrm>
        </p:grpSpPr>
        <p:sp>
          <p:nvSpPr>
            <p:cNvPr name="Freeform 11" id="11"/>
            <p:cNvSpPr/>
            <p:nvPr/>
          </p:nvSpPr>
          <p:spPr>
            <a:xfrm flipH="false" flipV="false" rot="0">
              <a:off x="0" y="0"/>
              <a:ext cx="2200275" cy="2435733"/>
            </a:xfrm>
            <a:custGeom>
              <a:avLst/>
              <a:gdLst/>
              <a:ahLst/>
              <a:cxnLst/>
              <a:rect r="r" b="b" t="t" l="l"/>
              <a:pathLst>
                <a:path h="2435733" w="2200275">
                  <a:moveTo>
                    <a:pt x="0" y="0"/>
                  </a:moveTo>
                  <a:lnTo>
                    <a:pt x="2200275" y="0"/>
                  </a:lnTo>
                  <a:lnTo>
                    <a:pt x="2200275" y="2435733"/>
                  </a:lnTo>
                  <a:lnTo>
                    <a:pt x="0" y="2435733"/>
                  </a:lnTo>
                  <a:lnTo>
                    <a:pt x="0" y="0"/>
                  </a:lnTo>
                  <a:close/>
                </a:path>
              </a:pathLst>
            </a:custGeom>
            <a:blipFill>
              <a:blip r:embed="rId3"/>
              <a:stretch>
                <a:fillRect l="-5350" t="0" r="-5350" b="0"/>
              </a:stretch>
            </a:blipFill>
          </p:spPr>
        </p:sp>
      </p:grpSp>
      <p:grpSp>
        <p:nvGrpSpPr>
          <p:cNvPr name="Group 12" id="12"/>
          <p:cNvGrpSpPr/>
          <p:nvPr/>
        </p:nvGrpSpPr>
        <p:grpSpPr>
          <a:xfrm rot="0">
            <a:off x="0" y="6634065"/>
            <a:ext cx="1581532" cy="2757202"/>
            <a:chOff x="0" y="0"/>
            <a:chExt cx="2108709" cy="3676269"/>
          </a:xfrm>
        </p:grpSpPr>
        <p:sp>
          <p:nvSpPr>
            <p:cNvPr name="Freeform 13" id="13"/>
            <p:cNvSpPr/>
            <p:nvPr/>
          </p:nvSpPr>
          <p:spPr>
            <a:xfrm flipH="false" flipV="false" rot="0">
              <a:off x="0" y="0"/>
              <a:ext cx="2108708" cy="3676269"/>
            </a:xfrm>
            <a:custGeom>
              <a:avLst/>
              <a:gdLst/>
              <a:ahLst/>
              <a:cxnLst/>
              <a:rect r="r" b="b" t="t" l="l"/>
              <a:pathLst>
                <a:path h="3676269" w="2108708">
                  <a:moveTo>
                    <a:pt x="0" y="0"/>
                  </a:moveTo>
                  <a:lnTo>
                    <a:pt x="2108708" y="0"/>
                  </a:lnTo>
                  <a:lnTo>
                    <a:pt x="2108708" y="3676269"/>
                  </a:lnTo>
                  <a:lnTo>
                    <a:pt x="0" y="3676269"/>
                  </a:lnTo>
                  <a:close/>
                </a:path>
              </a:pathLst>
            </a:custGeom>
            <a:solidFill>
              <a:srgbClr val="FFFFFF"/>
            </a:solidFill>
          </p:spPr>
        </p:sp>
      </p:grpSp>
      <p:grpSp>
        <p:nvGrpSpPr>
          <p:cNvPr name="Group 14" id="14"/>
          <p:cNvGrpSpPr/>
          <p:nvPr/>
        </p:nvGrpSpPr>
        <p:grpSpPr>
          <a:xfrm rot="0">
            <a:off x="1598723" y="3892003"/>
            <a:ext cx="14849857" cy="2502979"/>
            <a:chOff x="0" y="0"/>
            <a:chExt cx="19799809" cy="3337306"/>
          </a:xfrm>
        </p:grpSpPr>
        <p:sp>
          <p:nvSpPr>
            <p:cNvPr name="Freeform 15" id="15"/>
            <p:cNvSpPr/>
            <p:nvPr/>
          </p:nvSpPr>
          <p:spPr>
            <a:xfrm flipH="false" flipV="false" rot="0">
              <a:off x="0" y="0"/>
              <a:ext cx="19799808" cy="3337306"/>
            </a:xfrm>
            <a:custGeom>
              <a:avLst/>
              <a:gdLst/>
              <a:ahLst/>
              <a:cxnLst/>
              <a:rect r="r" b="b" t="t" l="l"/>
              <a:pathLst>
                <a:path h="3337306" w="19799808">
                  <a:moveTo>
                    <a:pt x="0" y="0"/>
                  </a:moveTo>
                  <a:lnTo>
                    <a:pt x="19799808" y="0"/>
                  </a:lnTo>
                  <a:lnTo>
                    <a:pt x="19799808" y="3337306"/>
                  </a:lnTo>
                  <a:lnTo>
                    <a:pt x="0" y="3337306"/>
                  </a:lnTo>
                  <a:close/>
                </a:path>
              </a:pathLst>
            </a:custGeom>
            <a:solidFill>
              <a:srgbClr val="FFFFFF"/>
            </a:solidFill>
          </p:spPr>
        </p:sp>
      </p:grpSp>
      <p:grpSp>
        <p:nvGrpSpPr>
          <p:cNvPr name="Group 16" id="16"/>
          <p:cNvGrpSpPr/>
          <p:nvPr/>
        </p:nvGrpSpPr>
        <p:grpSpPr>
          <a:xfrm rot="0">
            <a:off x="1577292" y="3864733"/>
            <a:ext cx="14892719" cy="2557462"/>
            <a:chOff x="0" y="0"/>
            <a:chExt cx="19856958" cy="3409950"/>
          </a:xfrm>
        </p:grpSpPr>
        <p:sp>
          <p:nvSpPr>
            <p:cNvPr name="Freeform 17" id="17"/>
            <p:cNvSpPr/>
            <p:nvPr/>
          </p:nvSpPr>
          <p:spPr>
            <a:xfrm flipH="false" flipV="false" rot="0">
              <a:off x="0" y="0"/>
              <a:ext cx="19856958" cy="3409950"/>
            </a:xfrm>
            <a:custGeom>
              <a:avLst/>
              <a:gdLst/>
              <a:ahLst/>
              <a:cxnLst/>
              <a:rect r="r" b="b" t="t" l="l"/>
              <a:pathLst>
                <a:path h="3409950" w="19856958">
                  <a:moveTo>
                    <a:pt x="28575" y="0"/>
                  </a:moveTo>
                  <a:lnTo>
                    <a:pt x="19828383" y="0"/>
                  </a:lnTo>
                  <a:cubicBezTo>
                    <a:pt x="19844131" y="0"/>
                    <a:pt x="19856958" y="16383"/>
                    <a:pt x="19856958" y="36322"/>
                  </a:cubicBezTo>
                  <a:lnTo>
                    <a:pt x="19856958" y="3373628"/>
                  </a:lnTo>
                  <a:cubicBezTo>
                    <a:pt x="19856958" y="3393694"/>
                    <a:pt x="19844131" y="3409950"/>
                    <a:pt x="19828383" y="3409950"/>
                  </a:cubicBezTo>
                  <a:lnTo>
                    <a:pt x="28575" y="3409950"/>
                  </a:lnTo>
                  <a:cubicBezTo>
                    <a:pt x="12827" y="3409950"/>
                    <a:pt x="0" y="3393567"/>
                    <a:pt x="0" y="3373628"/>
                  </a:cubicBezTo>
                  <a:lnTo>
                    <a:pt x="0" y="36322"/>
                  </a:lnTo>
                  <a:cubicBezTo>
                    <a:pt x="0" y="16383"/>
                    <a:pt x="12827" y="0"/>
                    <a:pt x="28575" y="0"/>
                  </a:cubicBezTo>
                  <a:moveTo>
                    <a:pt x="28575" y="72771"/>
                  </a:moveTo>
                  <a:lnTo>
                    <a:pt x="28575" y="36322"/>
                  </a:lnTo>
                  <a:lnTo>
                    <a:pt x="57150" y="36322"/>
                  </a:lnTo>
                  <a:lnTo>
                    <a:pt x="57150" y="3373628"/>
                  </a:lnTo>
                  <a:lnTo>
                    <a:pt x="28575" y="3373628"/>
                  </a:lnTo>
                  <a:lnTo>
                    <a:pt x="28575" y="3337306"/>
                  </a:lnTo>
                  <a:lnTo>
                    <a:pt x="19828383" y="3337306"/>
                  </a:lnTo>
                  <a:lnTo>
                    <a:pt x="19828383" y="3373628"/>
                  </a:lnTo>
                  <a:lnTo>
                    <a:pt x="19799808" y="3373628"/>
                  </a:lnTo>
                  <a:lnTo>
                    <a:pt x="19799808" y="36322"/>
                  </a:lnTo>
                  <a:lnTo>
                    <a:pt x="19828383" y="36322"/>
                  </a:lnTo>
                  <a:lnTo>
                    <a:pt x="19828383" y="72771"/>
                  </a:lnTo>
                  <a:lnTo>
                    <a:pt x="28575" y="72771"/>
                  </a:lnTo>
                  <a:close/>
                </a:path>
              </a:pathLst>
            </a:custGeom>
            <a:solidFill>
              <a:srgbClr val="0070C0"/>
            </a:solidFill>
          </p:spPr>
        </p:sp>
      </p:grpSp>
      <p:grpSp>
        <p:nvGrpSpPr>
          <p:cNvPr name="Group 18" id="18"/>
          <p:cNvGrpSpPr/>
          <p:nvPr/>
        </p:nvGrpSpPr>
        <p:grpSpPr>
          <a:xfrm rot="0">
            <a:off x="1577292" y="3821871"/>
            <a:ext cx="14892718" cy="2600396"/>
            <a:chOff x="0" y="0"/>
            <a:chExt cx="19856957" cy="3467195"/>
          </a:xfrm>
        </p:grpSpPr>
        <p:sp>
          <p:nvSpPr>
            <p:cNvPr name="Freeform 19" id="19"/>
            <p:cNvSpPr/>
            <p:nvPr/>
          </p:nvSpPr>
          <p:spPr>
            <a:xfrm flipH="false" flipV="false" rot="0">
              <a:off x="0" y="0"/>
              <a:ext cx="19856957" cy="3467195"/>
            </a:xfrm>
            <a:custGeom>
              <a:avLst/>
              <a:gdLst/>
              <a:ahLst/>
              <a:cxnLst/>
              <a:rect r="r" b="b" t="t" l="l"/>
              <a:pathLst>
                <a:path h="3467195" w="19856957">
                  <a:moveTo>
                    <a:pt x="0" y="0"/>
                  </a:moveTo>
                  <a:lnTo>
                    <a:pt x="19856957" y="0"/>
                  </a:lnTo>
                  <a:lnTo>
                    <a:pt x="19856957" y="3467195"/>
                  </a:lnTo>
                  <a:lnTo>
                    <a:pt x="0" y="3467195"/>
                  </a:lnTo>
                  <a:close/>
                </a:path>
              </a:pathLst>
            </a:custGeom>
            <a:solidFill>
              <a:srgbClr val="000000">
                <a:alpha val="0"/>
              </a:srgbClr>
            </a:solidFill>
          </p:spPr>
        </p:sp>
        <p:sp>
          <p:nvSpPr>
            <p:cNvPr name="TextBox 20" id="20"/>
            <p:cNvSpPr txBox="true"/>
            <p:nvPr/>
          </p:nvSpPr>
          <p:spPr>
            <a:xfrm>
              <a:off x="0" y="-28575"/>
              <a:ext cx="19856957" cy="3495770"/>
            </a:xfrm>
            <a:prstGeom prst="rect">
              <a:avLst/>
            </a:prstGeom>
          </p:spPr>
          <p:txBody>
            <a:bodyPr anchor="ctr" rtlCol="false" tIns="0" lIns="0" bIns="0" rIns="0"/>
            <a:lstStyle/>
            <a:p>
              <a:pPr algn="ctr">
                <a:lnSpc>
                  <a:spcPts val="5759"/>
                </a:lnSpc>
              </a:pPr>
              <a:r>
                <a:rPr lang="en-US" b="true" sz="4800" i="true">
                  <a:solidFill>
                    <a:srgbClr val="00B0F0"/>
                  </a:solidFill>
                  <a:latin typeface="Times New Roman Bold Italics"/>
                  <a:ea typeface="Times New Roman Bold Italics"/>
                  <a:cs typeface="Times New Roman Bold Italics"/>
                  <a:sym typeface="Times New Roman Bold Italics"/>
                </a:rPr>
                <a:t>Audit and security of a local network using</a:t>
              </a:r>
            </a:p>
            <a:p>
              <a:pPr algn="ctr">
                <a:lnSpc>
                  <a:spcPts val="5759"/>
                </a:lnSpc>
              </a:pPr>
              <a:r>
                <a:rPr lang="en-US" b="true" sz="4800" i="true">
                  <a:solidFill>
                    <a:srgbClr val="00B0F0"/>
                  </a:solidFill>
                  <a:latin typeface="Times New Roman Bold Italics"/>
                  <a:ea typeface="Times New Roman Bold Italics"/>
                  <a:cs typeface="Times New Roman Bold Italics"/>
                  <a:sym typeface="Times New Roman Bold Italics"/>
                </a:rPr>
                <a:t>pfSense and Nmap</a:t>
              </a:r>
            </a:p>
          </p:txBody>
        </p:sp>
      </p:grpSp>
      <p:sp>
        <p:nvSpPr>
          <p:cNvPr name="TextBox 21" id="21"/>
          <p:cNvSpPr txBox="true"/>
          <p:nvPr/>
        </p:nvSpPr>
        <p:spPr>
          <a:xfrm rot="0">
            <a:off x="4201802" y="656004"/>
            <a:ext cx="9884397" cy="876300"/>
          </a:xfrm>
          <a:prstGeom prst="rect">
            <a:avLst/>
          </a:prstGeom>
        </p:spPr>
        <p:txBody>
          <a:bodyPr anchor="t" rtlCol="false" tIns="0" lIns="0" bIns="0" rIns="0">
            <a:spAutoFit/>
          </a:bodyPr>
          <a:lstStyle/>
          <a:p>
            <a:pPr algn="ctr">
              <a:lnSpc>
                <a:spcPts val="3240"/>
              </a:lnSpc>
            </a:pPr>
            <a:r>
              <a:rPr lang="en-US" sz="2700" b="true">
                <a:solidFill>
                  <a:srgbClr val="0C4493"/>
                </a:solidFill>
                <a:latin typeface="Times New Roman Bold"/>
                <a:ea typeface="Times New Roman Bold"/>
                <a:cs typeface="Times New Roman Bold"/>
                <a:sym typeface="Times New Roman Bold"/>
              </a:rPr>
              <a:t>ECOLE SUPERRIEUR DE TECHNOLOGIE - BENI MELLAL</a:t>
            </a:r>
          </a:p>
          <a:p>
            <a:pPr algn="ctr">
              <a:lnSpc>
                <a:spcPts val="3240"/>
              </a:lnSpc>
            </a:pPr>
            <a:r>
              <a:rPr lang="en-US" sz="2700" b="true">
                <a:solidFill>
                  <a:srgbClr val="0C4493"/>
                </a:solidFill>
                <a:latin typeface="Times New Roman Bold"/>
                <a:ea typeface="Times New Roman Bold"/>
                <a:cs typeface="Times New Roman Bold"/>
                <a:sym typeface="Times New Roman Bold"/>
              </a:rPr>
              <a:t>DEPARTEMENT Informatique et Techniques de Gestion</a:t>
            </a:r>
          </a:p>
        </p:txBody>
      </p:sp>
      <p:sp>
        <p:nvSpPr>
          <p:cNvPr name="TextBox 22" id="22"/>
          <p:cNvSpPr txBox="true"/>
          <p:nvPr/>
        </p:nvSpPr>
        <p:spPr>
          <a:xfrm rot="0">
            <a:off x="5667473" y="1553110"/>
            <a:ext cx="8635047" cy="990600"/>
          </a:xfrm>
          <a:prstGeom prst="rect">
            <a:avLst/>
          </a:prstGeom>
        </p:spPr>
        <p:txBody>
          <a:bodyPr anchor="t" rtlCol="false" tIns="0" lIns="0" bIns="0" rIns="0">
            <a:spAutoFit/>
          </a:bodyPr>
          <a:lstStyle/>
          <a:p>
            <a:pPr algn="l">
              <a:lnSpc>
                <a:spcPts val="3240"/>
              </a:lnSpc>
            </a:pPr>
            <a:r>
              <a:rPr lang="en-US" b="true" sz="2700" u="sng">
                <a:solidFill>
                  <a:srgbClr val="0070C0"/>
                </a:solidFill>
                <a:latin typeface="Calibri (MS) Bold"/>
                <a:ea typeface="Calibri (MS) Bold"/>
                <a:cs typeface="Calibri (MS) Bold"/>
                <a:sym typeface="Calibri (MS) Bold"/>
              </a:rPr>
              <a:t>Filière :</a:t>
            </a:r>
            <a:r>
              <a:rPr lang="en-US" sz="2700" b="true">
                <a:solidFill>
                  <a:srgbClr val="0070C0"/>
                </a:solidFill>
                <a:latin typeface="Calibri (MS) Bold"/>
                <a:ea typeface="Calibri (MS) Bold"/>
                <a:cs typeface="Calibri (MS) Bold"/>
                <a:sym typeface="Calibri (MS) Bold"/>
              </a:rPr>
              <a:t> </a:t>
            </a:r>
            <a:r>
              <a:rPr lang="en-US" sz="2700">
                <a:solidFill>
                  <a:srgbClr val="000000"/>
                </a:solidFill>
                <a:latin typeface="Calibri (MS)"/>
                <a:ea typeface="Calibri (MS)"/>
                <a:cs typeface="Calibri (MS)"/>
                <a:sym typeface="Calibri (MS)"/>
              </a:rPr>
              <a:t>DUT en Sécurité informatique et réseaux </a:t>
            </a:r>
          </a:p>
          <a:p>
            <a:pPr algn="l">
              <a:lnSpc>
                <a:spcPts val="3240"/>
              </a:lnSpc>
            </a:pPr>
            <a:r>
              <a:rPr lang="en-US" sz="2700">
                <a:solidFill>
                  <a:srgbClr val="000000"/>
                </a:solidFill>
                <a:latin typeface="Calibri (MS)"/>
                <a:ea typeface="Calibri (MS)"/>
                <a:cs typeface="Calibri (MS)"/>
                <a:sym typeface="Calibri (MS)"/>
              </a:rPr>
              <a:t> </a:t>
            </a:r>
          </a:p>
        </p:txBody>
      </p:sp>
      <p:sp>
        <p:nvSpPr>
          <p:cNvPr name="TextBox 23" id="23"/>
          <p:cNvSpPr txBox="true"/>
          <p:nvPr/>
        </p:nvSpPr>
        <p:spPr>
          <a:xfrm rot="0">
            <a:off x="7179347" y="9465205"/>
            <a:ext cx="4121664" cy="342900"/>
          </a:xfrm>
          <a:prstGeom prst="rect">
            <a:avLst/>
          </a:prstGeom>
        </p:spPr>
        <p:txBody>
          <a:bodyPr anchor="t" rtlCol="false" tIns="0" lIns="0" bIns="0" rIns="0">
            <a:spAutoFit/>
          </a:bodyPr>
          <a:lstStyle/>
          <a:p>
            <a:pPr algn="l">
              <a:lnSpc>
                <a:spcPts val="2520"/>
              </a:lnSpc>
            </a:pPr>
            <a:r>
              <a:rPr lang="en-US" sz="2100" b="true">
                <a:solidFill>
                  <a:srgbClr val="000000"/>
                </a:solidFill>
                <a:latin typeface="Arimo Bold"/>
                <a:ea typeface="Arimo Bold"/>
                <a:cs typeface="Arimo Bold"/>
                <a:sym typeface="Arimo Bold"/>
              </a:rPr>
              <a:t>Année Universitaire : 2025/2026</a:t>
            </a:r>
          </a:p>
        </p:txBody>
      </p:sp>
      <p:sp>
        <p:nvSpPr>
          <p:cNvPr name="TextBox 24" id="24"/>
          <p:cNvSpPr txBox="true"/>
          <p:nvPr/>
        </p:nvSpPr>
        <p:spPr>
          <a:xfrm rot="0">
            <a:off x="1598723" y="6576915"/>
            <a:ext cx="5066731" cy="2009775"/>
          </a:xfrm>
          <a:prstGeom prst="rect">
            <a:avLst/>
          </a:prstGeom>
        </p:spPr>
        <p:txBody>
          <a:bodyPr anchor="t" rtlCol="false" tIns="0" lIns="0" bIns="0" rIns="0">
            <a:spAutoFit/>
          </a:bodyPr>
          <a:lstStyle/>
          <a:p>
            <a:pPr algn="l">
              <a:lnSpc>
                <a:spcPts val="3240"/>
              </a:lnSpc>
            </a:pPr>
            <a:r>
              <a:rPr lang="en-US" b="true" sz="2700" u="sng">
                <a:solidFill>
                  <a:srgbClr val="0070C0"/>
                </a:solidFill>
                <a:latin typeface="Calibri (MS) Bold"/>
                <a:ea typeface="Calibri (MS) Bold"/>
                <a:cs typeface="Calibri (MS) Bold"/>
                <a:sym typeface="Calibri (MS) Bold"/>
              </a:rPr>
              <a:t>Prepared by :</a:t>
            </a:r>
          </a:p>
          <a:p>
            <a:pPr algn="l">
              <a:lnSpc>
                <a:spcPts val="4860"/>
              </a:lnSpc>
            </a:pPr>
            <a:r>
              <a:rPr lang="en-US" sz="2700" b="true">
                <a:solidFill>
                  <a:srgbClr val="000000"/>
                </a:solidFill>
                <a:latin typeface="Times New Roman Bold"/>
                <a:ea typeface="Times New Roman Bold"/>
                <a:cs typeface="Times New Roman Bold"/>
                <a:sym typeface="Times New Roman Bold"/>
              </a:rPr>
              <a:t>Hajar Rachid  </a:t>
            </a:r>
          </a:p>
          <a:p>
            <a:pPr algn="l">
              <a:lnSpc>
                <a:spcPts val="3240"/>
              </a:lnSpc>
            </a:pPr>
          </a:p>
          <a:p>
            <a:pPr algn="l">
              <a:lnSpc>
                <a:spcPts val="3240"/>
              </a:lnSpc>
            </a:pPr>
          </a:p>
        </p:txBody>
      </p:sp>
      <p:sp>
        <p:nvSpPr>
          <p:cNvPr name="TextBox 25" id="25"/>
          <p:cNvSpPr txBox="true"/>
          <p:nvPr/>
        </p:nvSpPr>
        <p:spPr>
          <a:xfrm rot="0">
            <a:off x="7179347" y="6468809"/>
            <a:ext cx="4489342" cy="1642110"/>
          </a:xfrm>
          <a:prstGeom prst="rect">
            <a:avLst/>
          </a:prstGeom>
        </p:spPr>
        <p:txBody>
          <a:bodyPr anchor="t" rtlCol="false" tIns="0" lIns="0" bIns="0" rIns="0">
            <a:spAutoFit/>
          </a:bodyPr>
          <a:lstStyle/>
          <a:p>
            <a:pPr algn="l">
              <a:lnSpc>
                <a:spcPts val="4860"/>
              </a:lnSpc>
            </a:pPr>
            <a:r>
              <a:rPr lang="en-US" b="true" sz="2700" u="sng">
                <a:solidFill>
                  <a:srgbClr val="0070C0"/>
                </a:solidFill>
                <a:latin typeface="Calibri (MS) Bold"/>
                <a:ea typeface="Calibri (MS) Bold"/>
                <a:cs typeface="Calibri (MS) Bold"/>
                <a:sym typeface="Calibri (MS) Bold"/>
              </a:rPr>
              <a:t>Supervised by :</a:t>
            </a:r>
          </a:p>
          <a:p>
            <a:pPr algn="l">
              <a:lnSpc>
                <a:spcPts val="4860"/>
              </a:lnSpc>
            </a:pPr>
            <a:r>
              <a:rPr lang="en-US" sz="2700" b="true">
                <a:solidFill>
                  <a:srgbClr val="000000"/>
                </a:solidFill>
                <a:latin typeface="Times New Roman Bold"/>
                <a:ea typeface="Times New Roman Bold"/>
                <a:cs typeface="Times New Roman Bold"/>
                <a:sym typeface="Times New Roman Bold"/>
              </a:rPr>
              <a:t> Mr. Saad Jabri</a:t>
            </a:r>
          </a:p>
        </p:txBody>
      </p:sp>
      <p:sp>
        <p:nvSpPr>
          <p:cNvPr name="TextBox 26" id="26"/>
          <p:cNvSpPr txBox="true"/>
          <p:nvPr/>
        </p:nvSpPr>
        <p:spPr>
          <a:xfrm rot="0">
            <a:off x="8079828" y="3403036"/>
            <a:ext cx="2128329" cy="450457"/>
          </a:xfrm>
          <a:prstGeom prst="rect">
            <a:avLst/>
          </a:prstGeom>
        </p:spPr>
        <p:txBody>
          <a:bodyPr anchor="t" rtlCol="false" tIns="0" lIns="0" bIns="0" rIns="0">
            <a:spAutoFit/>
          </a:bodyPr>
          <a:lstStyle/>
          <a:p>
            <a:pPr algn="l">
              <a:lnSpc>
                <a:spcPts val="2700"/>
              </a:lnSpc>
            </a:pPr>
            <a:r>
              <a:rPr lang="en-US" b="true" sz="2250" u="sng">
                <a:solidFill>
                  <a:srgbClr val="000000"/>
                </a:solidFill>
                <a:latin typeface="Arimo Bold"/>
                <a:ea typeface="Arimo Bold"/>
                <a:cs typeface="Arimo Bold"/>
                <a:sym typeface="Arimo Bold"/>
              </a:rPr>
              <a:t>Sous le thème </a:t>
            </a:r>
          </a:p>
        </p:txBody>
      </p:sp>
      <p:sp>
        <p:nvSpPr>
          <p:cNvPr name="TextBox 27" id="27"/>
          <p:cNvSpPr txBox="true"/>
          <p:nvPr/>
        </p:nvSpPr>
        <p:spPr>
          <a:xfrm rot="0">
            <a:off x="6368253" y="2452800"/>
            <a:ext cx="4768828" cy="876300"/>
          </a:xfrm>
          <a:prstGeom prst="rect">
            <a:avLst/>
          </a:prstGeom>
        </p:spPr>
        <p:txBody>
          <a:bodyPr anchor="t" rtlCol="false" tIns="0" lIns="0" bIns="0" rIns="0">
            <a:spAutoFit/>
          </a:bodyPr>
          <a:lstStyle/>
          <a:p>
            <a:pPr algn="ctr">
              <a:lnSpc>
                <a:spcPts val="3240"/>
              </a:lnSpc>
            </a:pPr>
            <a:r>
              <a:rPr lang="en-US" sz="2700" b="true">
                <a:solidFill>
                  <a:srgbClr val="244061"/>
                </a:solidFill>
                <a:latin typeface="Times New Roman Bold"/>
                <a:ea typeface="Times New Roman Bold"/>
                <a:cs typeface="Times New Roman Bold"/>
                <a:sym typeface="Times New Roman Bold"/>
              </a:rPr>
              <a:t>STAGE D’INITIATION</a:t>
            </a:r>
          </a:p>
          <a:p>
            <a:pPr algn="ctr">
              <a:lnSpc>
                <a:spcPts val="3240"/>
              </a:lnSpc>
            </a:pPr>
          </a:p>
        </p:txBody>
      </p:sp>
      <p:sp>
        <p:nvSpPr>
          <p:cNvPr name="TextBox 28" id="28"/>
          <p:cNvSpPr txBox="true"/>
          <p:nvPr/>
        </p:nvSpPr>
        <p:spPr>
          <a:xfrm rot="0">
            <a:off x="13219858" y="6424515"/>
            <a:ext cx="4489342" cy="2251710"/>
          </a:xfrm>
          <a:prstGeom prst="rect">
            <a:avLst/>
          </a:prstGeom>
        </p:spPr>
        <p:txBody>
          <a:bodyPr anchor="t" rtlCol="false" tIns="0" lIns="0" bIns="0" rIns="0">
            <a:spAutoFit/>
          </a:bodyPr>
          <a:lstStyle/>
          <a:p>
            <a:pPr algn="l">
              <a:lnSpc>
                <a:spcPts val="4860"/>
              </a:lnSpc>
            </a:pPr>
            <a:r>
              <a:rPr lang="en-US" b="true" sz="2700" u="sng">
                <a:solidFill>
                  <a:srgbClr val="0070C0"/>
                </a:solidFill>
                <a:latin typeface="Calibri (MS) Bold"/>
                <a:ea typeface="Calibri (MS) Bold"/>
                <a:cs typeface="Calibri (MS) Bold"/>
                <a:sym typeface="Calibri (MS) Bold"/>
              </a:rPr>
              <a:t>To the jury :</a:t>
            </a:r>
          </a:p>
          <a:p>
            <a:pPr algn="l">
              <a:lnSpc>
                <a:spcPts val="4860"/>
              </a:lnSpc>
            </a:pPr>
            <a:r>
              <a:rPr lang="en-US" sz="2700" b="true">
                <a:solidFill>
                  <a:srgbClr val="000000"/>
                </a:solidFill>
                <a:latin typeface="Times New Roman Bold"/>
                <a:ea typeface="Times New Roman Bold"/>
                <a:cs typeface="Times New Roman Bold"/>
                <a:sym typeface="Times New Roman Bold"/>
              </a:rPr>
              <a:t>Pr. M. OURRIBBANE</a:t>
            </a:r>
          </a:p>
          <a:p>
            <a:pPr algn="l">
              <a:lnSpc>
                <a:spcPts val="4860"/>
              </a:lnSpc>
            </a:pPr>
            <a:r>
              <a:rPr lang="en-US" sz="2700" b="true">
                <a:solidFill>
                  <a:srgbClr val="000000"/>
                </a:solidFill>
                <a:latin typeface="Times New Roman Bold"/>
                <a:ea typeface="Times New Roman Bold"/>
                <a:cs typeface="Times New Roman Bold"/>
                <a:sym typeface="Times New Roman Bold"/>
              </a:rPr>
              <a:t>Pr. M. OUTANOUTE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33783" y="1678546"/>
            <a:ext cx="6929914" cy="6929914"/>
            <a:chOff x="0" y="0"/>
            <a:chExt cx="9239885" cy="9239885"/>
          </a:xfrm>
        </p:grpSpPr>
        <p:sp>
          <p:nvSpPr>
            <p:cNvPr name="Freeform 3" id="3"/>
            <p:cNvSpPr/>
            <p:nvPr/>
          </p:nvSpPr>
          <p:spPr>
            <a:xfrm flipH="false" flipV="false" rot="0">
              <a:off x="0" y="0"/>
              <a:ext cx="9239885" cy="9239885"/>
            </a:xfrm>
            <a:custGeom>
              <a:avLst/>
              <a:gdLst/>
              <a:ahLst/>
              <a:cxnLst/>
              <a:rect r="r" b="b" t="t" l="l"/>
              <a:pathLst>
                <a:path h="9239885" w="9239885">
                  <a:moveTo>
                    <a:pt x="0" y="4619879"/>
                  </a:moveTo>
                  <a:cubicBezTo>
                    <a:pt x="0" y="2068449"/>
                    <a:pt x="2068449" y="0"/>
                    <a:pt x="4619879" y="0"/>
                  </a:cubicBezTo>
                  <a:cubicBezTo>
                    <a:pt x="7171309" y="0"/>
                    <a:pt x="9239885" y="2068449"/>
                    <a:pt x="9239885" y="4619879"/>
                  </a:cubicBezTo>
                  <a:cubicBezTo>
                    <a:pt x="9239885" y="7171309"/>
                    <a:pt x="7171436" y="9239885"/>
                    <a:pt x="4619879" y="9239885"/>
                  </a:cubicBezTo>
                  <a:cubicBezTo>
                    <a:pt x="2068322" y="9239885"/>
                    <a:pt x="0" y="7171436"/>
                    <a:pt x="0" y="4619879"/>
                  </a:cubicBezTo>
                  <a:close/>
                </a:path>
              </a:pathLst>
            </a:custGeom>
            <a:solidFill>
              <a:srgbClr val="4E91F0"/>
            </a:solidFill>
          </p:spPr>
        </p:sp>
      </p:grpSp>
      <p:grpSp>
        <p:nvGrpSpPr>
          <p:cNvPr name="Group 4" id="4"/>
          <p:cNvGrpSpPr/>
          <p:nvPr/>
        </p:nvGrpSpPr>
        <p:grpSpPr>
          <a:xfrm rot="0">
            <a:off x="1755648" y="2212848"/>
            <a:ext cx="4855464" cy="5989320"/>
            <a:chOff x="0" y="0"/>
            <a:chExt cx="6473952" cy="7985760"/>
          </a:xfrm>
        </p:grpSpPr>
        <p:sp>
          <p:nvSpPr>
            <p:cNvPr name="Freeform 5" id="5"/>
            <p:cNvSpPr/>
            <p:nvPr/>
          </p:nvSpPr>
          <p:spPr>
            <a:xfrm flipH="false" flipV="false" rot="0">
              <a:off x="0" y="0"/>
              <a:ext cx="6473952" cy="7985760"/>
            </a:xfrm>
            <a:custGeom>
              <a:avLst/>
              <a:gdLst/>
              <a:ahLst/>
              <a:cxnLst/>
              <a:rect r="r" b="b" t="t" l="l"/>
              <a:pathLst>
                <a:path h="7985760" w="6473952">
                  <a:moveTo>
                    <a:pt x="0" y="0"/>
                  </a:moveTo>
                  <a:lnTo>
                    <a:pt x="6473952" y="0"/>
                  </a:lnTo>
                  <a:lnTo>
                    <a:pt x="6473952" y="7985760"/>
                  </a:lnTo>
                  <a:lnTo>
                    <a:pt x="0" y="7985760"/>
                  </a:lnTo>
                  <a:close/>
                </a:path>
              </a:pathLst>
            </a:custGeom>
            <a:solidFill>
              <a:srgbClr val="000000">
                <a:alpha val="0"/>
              </a:srgbClr>
            </a:solidFill>
          </p:spPr>
        </p:sp>
        <p:sp>
          <p:nvSpPr>
            <p:cNvPr name="TextBox 6" id="6"/>
            <p:cNvSpPr txBox="true"/>
            <p:nvPr/>
          </p:nvSpPr>
          <p:spPr>
            <a:xfrm>
              <a:off x="0" y="76200"/>
              <a:ext cx="6473952" cy="7909560"/>
            </a:xfrm>
            <a:prstGeom prst="rect">
              <a:avLst/>
            </a:prstGeom>
          </p:spPr>
          <p:txBody>
            <a:bodyPr anchor="ctr" rtlCol="false" tIns="0" lIns="0" bIns="0" rIns="0"/>
            <a:lstStyle/>
            <a:p>
              <a:pPr algn="ctr">
                <a:lnSpc>
                  <a:spcPts val="11664"/>
                </a:lnSpc>
              </a:pPr>
              <a:r>
                <a:rPr lang="en-US" sz="10800">
                  <a:solidFill>
                    <a:srgbClr val="FFFFFF"/>
                  </a:solidFill>
                  <a:latin typeface="Arimo"/>
                  <a:ea typeface="Arimo"/>
                  <a:cs typeface="Arimo"/>
                  <a:sym typeface="Arimo"/>
                </a:rPr>
                <a:t>Plan</a:t>
              </a:r>
            </a:p>
          </p:txBody>
        </p:sp>
      </p:grpSp>
      <p:grpSp>
        <p:nvGrpSpPr>
          <p:cNvPr name="Group 7" id="7"/>
          <p:cNvGrpSpPr/>
          <p:nvPr/>
        </p:nvGrpSpPr>
        <p:grpSpPr>
          <a:xfrm rot="0">
            <a:off x="12915900" y="9477375"/>
            <a:ext cx="4114800" cy="604838"/>
            <a:chOff x="0" y="0"/>
            <a:chExt cx="5486400" cy="806451"/>
          </a:xfrm>
        </p:grpSpPr>
        <p:sp>
          <p:nvSpPr>
            <p:cNvPr name="Freeform 8" id="8"/>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9" id="9"/>
            <p:cNvSpPr txBox="true"/>
            <p:nvPr/>
          </p:nvSpPr>
          <p:spPr>
            <a:xfrm>
              <a:off x="0" y="-38100"/>
              <a:ext cx="5486400" cy="844551"/>
            </a:xfrm>
            <a:prstGeom prst="rect">
              <a:avLst/>
            </a:prstGeom>
          </p:spPr>
          <p:txBody>
            <a:bodyPr anchor="ctr" rtlCol="false" tIns="0" lIns="0" bIns="0" rIns="0"/>
            <a:lstStyle/>
            <a:p>
              <a:pPr algn="r">
                <a:lnSpc>
                  <a:spcPts val="2160"/>
                </a:lnSpc>
              </a:pPr>
              <a:r>
                <a:rPr lang="en-US" sz="1800">
                  <a:solidFill>
                    <a:srgbClr val="898989"/>
                  </a:solidFill>
                  <a:latin typeface="Calibri (MS)"/>
                  <a:ea typeface="Calibri (MS)"/>
                  <a:cs typeface="Calibri (MS)"/>
                  <a:sym typeface="Calibri (MS)"/>
                </a:rPr>
                <a:t>1</a:t>
              </a:r>
            </a:p>
          </p:txBody>
        </p:sp>
      </p:grpSp>
      <p:grpSp>
        <p:nvGrpSpPr>
          <p:cNvPr name="Group 10" id="10"/>
          <p:cNvGrpSpPr/>
          <p:nvPr/>
        </p:nvGrpSpPr>
        <p:grpSpPr>
          <a:xfrm rot="0">
            <a:off x="6780426" y="2086737"/>
            <a:ext cx="802387" cy="802387"/>
            <a:chOff x="0" y="0"/>
            <a:chExt cx="1069849" cy="1069849"/>
          </a:xfrm>
        </p:grpSpPr>
        <p:sp>
          <p:nvSpPr>
            <p:cNvPr name="Freeform 11" id="11"/>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4E91F0"/>
            </a:solidFill>
          </p:spPr>
        </p:sp>
      </p:grpSp>
      <p:grpSp>
        <p:nvGrpSpPr>
          <p:cNvPr name="Group 12" id="12"/>
          <p:cNvGrpSpPr/>
          <p:nvPr/>
        </p:nvGrpSpPr>
        <p:grpSpPr>
          <a:xfrm rot="0">
            <a:off x="7456664" y="3226259"/>
            <a:ext cx="802387" cy="802385"/>
            <a:chOff x="0" y="0"/>
            <a:chExt cx="1069849" cy="1069847"/>
          </a:xfrm>
        </p:grpSpPr>
        <p:sp>
          <p:nvSpPr>
            <p:cNvPr name="Freeform 13" id="13"/>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4E91F0"/>
            </a:solidFill>
          </p:spPr>
        </p:sp>
      </p:grpSp>
      <p:grpSp>
        <p:nvGrpSpPr>
          <p:cNvPr name="Group 14" id="14"/>
          <p:cNvGrpSpPr/>
          <p:nvPr/>
        </p:nvGrpSpPr>
        <p:grpSpPr>
          <a:xfrm rot="0">
            <a:off x="7735634" y="4482016"/>
            <a:ext cx="802387" cy="802385"/>
            <a:chOff x="0" y="0"/>
            <a:chExt cx="1069849" cy="1069847"/>
          </a:xfrm>
        </p:grpSpPr>
        <p:sp>
          <p:nvSpPr>
            <p:cNvPr name="Freeform 15" id="15"/>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4E91F0"/>
            </a:solidFill>
          </p:spPr>
        </p:sp>
      </p:grpSp>
      <p:grpSp>
        <p:nvGrpSpPr>
          <p:cNvPr name="Group 16" id="16"/>
          <p:cNvGrpSpPr/>
          <p:nvPr/>
        </p:nvGrpSpPr>
        <p:grpSpPr>
          <a:xfrm rot="0">
            <a:off x="7687076" y="5851994"/>
            <a:ext cx="802387" cy="802387"/>
            <a:chOff x="0" y="0"/>
            <a:chExt cx="1069849" cy="1069849"/>
          </a:xfrm>
        </p:grpSpPr>
        <p:sp>
          <p:nvSpPr>
            <p:cNvPr name="Freeform 17" id="17"/>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4E91F0"/>
            </a:solidFill>
          </p:spPr>
        </p:sp>
      </p:grpSp>
      <p:sp>
        <p:nvSpPr>
          <p:cNvPr name="TextBox 18" id="18"/>
          <p:cNvSpPr txBox="true"/>
          <p:nvPr/>
        </p:nvSpPr>
        <p:spPr>
          <a:xfrm rot="0">
            <a:off x="8107067" y="1869223"/>
            <a:ext cx="2600863" cy="686782"/>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Introduction</a:t>
            </a:r>
          </a:p>
        </p:txBody>
      </p:sp>
      <p:sp>
        <p:nvSpPr>
          <p:cNvPr name="TextBox 19" id="19"/>
          <p:cNvSpPr txBox="true"/>
          <p:nvPr/>
        </p:nvSpPr>
        <p:spPr>
          <a:xfrm rot="0">
            <a:off x="8920726" y="5843707"/>
            <a:ext cx="4739622" cy="62865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Results and Analysis</a:t>
            </a:r>
          </a:p>
        </p:txBody>
      </p:sp>
      <p:sp>
        <p:nvSpPr>
          <p:cNvPr name="TextBox 20" id="20"/>
          <p:cNvSpPr txBox="true"/>
          <p:nvPr/>
        </p:nvSpPr>
        <p:spPr>
          <a:xfrm rot="0">
            <a:off x="8634564" y="3055239"/>
            <a:ext cx="9597972" cy="62865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 The project context</a:t>
            </a:r>
          </a:p>
        </p:txBody>
      </p:sp>
      <p:sp>
        <p:nvSpPr>
          <p:cNvPr name="TextBox 21" id="21"/>
          <p:cNvSpPr txBox="true"/>
          <p:nvPr/>
        </p:nvSpPr>
        <p:spPr>
          <a:xfrm rot="0">
            <a:off x="8890286" y="4310556"/>
            <a:ext cx="8673635" cy="628650"/>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Technical Environment &amp; Implementation</a:t>
            </a:r>
          </a:p>
        </p:txBody>
      </p:sp>
      <p:grpSp>
        <p:nvGrpSpPr>
          <p:cNvPr name="Group 22" id="22"/>
          <p:cNvGrpSpPr/>
          <p:nvPr/>
        </p:nvGrpSpPr>
        <p:grpSpPr>
          <a:xfrm rot="0">
            <a:off x="7125262" y="7010493"/>
            <a:ext cx="802387" cy="802387"/>
            <a:chOff x="0" y="0"/>
            <a:chExt cx="1069849" cy="1069849"/>
          </a:xfrm>
        </p:grpSpPr>
        <p:sp>
          <p:nvSpPr>
            <p:cNvPr name="Freeform 23" id="23"/>
            <p:cNvSpPr/>
            <p:nvPr/>
          </p:nvSpPr>
          <p:spPr>
            <a:xfrm flipH="false" flipV="false" rot="0">
              <a:off x="0" y="0"/>
              <a:ext cx="1069848" cy="1069848"/>
            </a:xfrm>
            <a:custGeom>
              <a:avLst/>
              <a:gdLst/>
              <a:ahLst/>
              <a:cxnLst/>
              <a:rect r="r" b="b" t="t" l="l"/>
              <a:pathLst>
                <a:path h="1069848" w="1069848">
                  <a:moveTo>
                    <a:pt x="0" y="534924"/>
                  </a:moveTo>
                  <a:cubicBezTo>
                    <a:pt x="0" y="239522"/>
                    <a:pt x="239522" y="0"/>
                    <a:pt x="534924" y="0"/>
                  </a:cubicBezTo>
                  <a:cubicBezTo>
                    <a:pt x="830326" y="0"/>
                    <a:pt x="1069848" y="239522"/>
                    <a:pt x="1069848" y="534924"/>
                  </a:cubicBezTo>
                  <a:cubicBezTo>
                    <a:pt x="1069848" y="830326"/>
                    <a:pt x="830453" y="1069848"/>
                    <a:pt x="534924" y="1069848"/>
                  </a:cubicBezTo>
                  <a:cubicBezTo>
                    <a:pt x="239395" y="1069848"/>
                    <a:pt x="0" y="830453"/>
                    <a:pt x="0" y="534924"/>
                  </a:cubicBezTo>
                  <a:close/>
                </a:path>
              </a:pathLst>
            </a:custGeom>
            <a:solidFill>
              <a:srgbClr val="4E91F0"/>
            </a:solidFill>
          </p:spPr>
        </p:sp>
      </p:grpSp>
      <p:sp>
        <p:nvSpPr>
          <p:cNvPr name="TextBox 24" id="24"/>
          <p:cNvSpPr txBox="true"/>
          <p:nvPr/>
        </p:nvSpPr>
        <p:spPr>
          <a:xfrm rot="0">
            <a:off x="8297792" y="7213201"/>
            <a:ext cx="2769548" cy="1114425"/>
          </a:xfrm>
          <a:prstGeom prst="rect">
            <a:avLst/>
          </a:prstGeom>
        </p:spPr>
        <p:txBody>
          <a:bodyPr anchor="t" rtlCol="false" tIns="0" lIns="0" bIns="0" rIns="0">
            <a:spAutoFit/>
          </a:bodyPr>
          <a:lstStyle/>
          <a:p>
            <a:pPr algn="l">
              <a:lnSpc>
                <a:spcPts val="4320"/>
              </a:lnSpc>
            </a:pPr>
            <a:r>
              <a:rPr lang="en-US" sz="3600" b="true">
                <a:solidFill>
                  <a:srgbClr val="000000"/>
                </a:solidFill>
                <a:latin typeface="Times New Roman Bold"/>
                <a:ea typeface="Times New Roman Bold"/>
                <a:cs typeface="Times New Roman Bold"/>
                <a:sym typeface="Times New Roman Bold"/>
              </a:rPr>
              <a:t>Conclusion  </a:t>
            </a:r>
          </a:p>
          <a:p>
            <a:pPr algn="l">
              <a:lnSpc>
                <a:spcPts val="4320"/>
              </a:lnSpc>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477375"/>
            <a:ext cx="4114800" cy="604838"/>
            <a:chOff x="0" y="0"/>
            <a:chExt cx="5486400" cy="806451"/>
          </a:xfrm>
        </p:grpSpPr>
        <p:sp>
          <p:nvSpPr>
            <p:cNvPr name="Freeform 3" id="3"/>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4" id="4"/>
            <p:cNvSpPr txBox="true"/>
            <p:nvPr/>
          </p:nvSpPr>
          <p:spPr>
            <a:xfrm>
              <a:off x="0" y="-38100"/>
              <a:ext cx="5486400" cy="844551"/>
            </a:xfrm>
            <a:prstGeom prst="rect">
              <a:avLst/>
            </a:prstGeom>
          </p:spPr>
          <p:txBody>
            <a:bodyPr anchor="ctr" rtlCol="false" tIns="0" lIns="0" bIns="0" rIns="0"/>
            <a:lstStyle/>
            <a:p>
              <a:pPr algn="r">
                <a:lnSpc>
                  <a:spcPts val="2160"/>
                </a:lnSpc>
              </a:pPr>
              <a:r>
                <a:rPr lang="en-US" sz="1800">
                  <a:solidFill>
                    <a:srgbClr val="898989"/>
                  </a:solidFill>
                  <a:latin typeface="Calibri (MS)"/>
                  <a:ea typeface="Calibri (MS)"/>
                  <a:cs typeface="Calibri (MS)"/>
                  <a:sym typeface="Calibri (MS)"/>
                </a:rPr>
                <a:t>2</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498531" y="1011190"/>
            <a:ext cx="1243472" cy="358125"/>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a:t>
            </a:r>
          </a:p>
        </p:txBody>
      </p:sp>
      <p:sp>
        <p:nvSpPr>
          <p:cNvPr name="TextBox 12" id="12"/>
          <p:cNvSpPr txBox="true"/>
          <p:nvPr/>
        </p:nvSpPr>
        <p:spPr>
          <a:xfrm rot="0">
            <a:off x="4827591" y="998289"/>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3" id="13"/>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4" id="14"/>
          <p:cNvSpPr txBox="true"/>
          <p:nvPr/>
        </p:nvSpPr>
        <p:spPr>
          <a:xfrm rot="0">
            <a:off x="1433103" y="2169315"/>
            <a:ext cx="2600864" cy="686783"/>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Introduction</a:t>
            </a:r>
          </a:p>
        </p:txBody>
      </p:sp>
      <p:sp>
        <p:nvSpPr>
          <p:cNvPr name="TextBox 15" id="15"/>
          <p:cNvSpPr txBox="true"/>
          <p:nvPr/>
        </p:nvSpPr>
        <p:spPr>
          <a:xfrm rot="0">
            <a:off x="1083224" y="2870718"/>
            <a:ext cx="11832676" cy="36233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The objective of this project is to set up a virtual laboratory for the audit and security of a local network, using pfSense as a firewall and Nmap as a scanning tool. It aims to reduce the attack surface of a server by applying filtering rules, while strengthening information system protection and demonstrating the importance of network security mechanisms in a professional environment.</a:t>
            </a:r>
          </a:p>
          <a:p>
            <a:pPr algn="just">
              <a:lnSpc>
                <a:spcPts val="4860"/>
              </a:lnSpc>
            </a:pPr>
          </a:p>
        </p:txBody>
      </p:sp>
      <p:sp>
        <p:nvSpPr>
          <p:cNvPr name="Freeform 16" id="16"/>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1110736" y="1127696"/>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8" id="18"/>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Technical Environment &amp; Implementation</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477375"/>
            <a:ext cx="4114800" cy="604838"/>
            <a:chOff x="0" y="0"/>
            <a:chExt cx="5486400" cy="806451"/>
          </a:xfrm>
        </p:grpSpPr>
        <p:sp>
          <p:nvSpPr>
            <p:cNvPr name="Freeform 3" id="3"/>
            <p:cNvSpPr/>
            <p:nvPr/>
          </p:nvSpPr>
          <p:spPr>
            <a:xfrm flipH="false" flipV="false" rot="0">
              <a:off x="0" y="0"/>
              <a:ext cx="5486400" cy="806451"/>
            </a:xfrm>
            <a:custGeom>
              <a:avLst/>
              <a:gdLst/>
              <a:ahLst/>
              <a:cxnLst/>
              <a:rect r="r" b="b" t="t" l="l"/>
              <a:pathLst>
                <a:path h="806451" w="5486400">
                  <a:moveTo>
                    <a:pt x="0" y="0"/>
                  </a:moveTo>
                  <a:lnTo>
                    <a:pt x="5486400" y="0"/>
                  </a:lnTo>
                  <a:lnTo>
                    <a:pt x="5486400" y="806451"/>
                  </a:lnTo>
                  <a:lnTo>
                    <a:pt x="0" y="806451"/>
                  </a:lnTo>
                  <a:close/>
                </a:path>
              </a:pathLst>
            </a:custGeom>
            <a:solidFill>
              <a:srgbClr val="000000">
                <a:alpha val="0"/>
              </a:srgbClr>
            </a:solidFill>
          </p:spPr>
        </p:sp>
        <p:sp>
          <p:nvSpPr>
            <p:cNvPr name="TextBox 4" id="4"/>
            <p:cNvSpPr txBox="true"/>
            <p:nvPr/>
          </p:nvSpPr>
          <p:spPr>
            <a:xfrm>
              <a:off x="0" y="-38100"/>
              <a:ext cx="5486400" cy="844551"/>
            </a:xfrm>
            <a:prstGeom prst="rect">
              <a:avLst/>
            </a:prstGeom>
          </p:spPr>
          <p:txBody>
            <a:bodyPr anchor="ctr" rtlCol="false" tIns="0" lIns="0" bIns="0" rIns="0"/>
            <a:lstStyle/>
            <a:p>
              <a:pPr algn="r">
                <a:lnSpc>
                  <a:spcPts val="2160"/>
                </a:lnSpc>
              </a:pPr>
              <a:r>
                <a:rPr lang="en-US" sz="1800">
                  <a:solidFill>
                    <a:srgbClr val="898989"/>
                  </a:solidFill>
                  <a:latin typeface="Calibri (MS)"/>
                  <a:ea typeface="Calibri (MS)"/>
                  <a:cs typeface="Calibri (MS)"/>
                  <a:sym typeface="Calibri (MS)"/>
                </a:rPr>
                <a:t>3</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0061829" y="4756661"/>
            <a:ext cx="6968871" cy="4117943"/>
            <a:chOff x="0" y="0"/>
            <a:chExt cx="9291828" cy="5490591"/>
          </a:xfrm>
        </p:grpSpPr>
        <p:sp>
          <p:nvSpPr>
            <p:cNvPr name="Freeform 13" id="13"/>
            <p:cNvSpPr/>
            <p:nvPr/>
          </p:nvSpPr>
          <p:spPr>
            <a:xfrm flipH="false" flipV="false" rot="0">
              <a:off x="0" y="0"/>
              <a:ext cx="9291828" cy="5490591"/>
            </a:xfrm>
            <a:custGeom>
              <a:avLst/>
              <a:gdLst/>
              <a:ahLst/>
              <a:cxnLst/>
              <a:rect r="r" b="b" t="t" l="l"/>
              <a:pathLst>
                <a:path h="5490591" w="9291828">
                  <a:moveTo>
                    <a:pt x="0" y="0"/>
                  </a:moveTo>
                  <a:lnTo>
                    <a:pt x="9291828" y="0"/>
                  </a:lnTo>
                  <a:lnTo>
                    <a:pt x="9291828" y="5490591"/>
                  </a:lnTo>
                  <a:lnTo>
                    <a:pt x="0" y="5490591"/>
                  </a:lnTo>
                  <a:lnTo>
                    <a:pt x="0" y="0"/>
                  </a:lnTo>
                  <a:close/>
                </a:path>
              </a:pathLst>
            </a:custGeom>
            <a:blipFill>
              <a:blip r:embed="rId6"/>
              <a:stretch>
                <a:fillRect l="0" t="0" r="0" b="0"/>
              </a:stretch>
            </a:blipFill>
          </p:spPr>
        </p:sp>
      </p:grpSp>
      <p:sp>
        <p:nvSpPr>
          <p:cNvPr name="TextBox 14" id="14"/>
          <p:cNvSpPr txBox="true"/>
          <p:nvPr/>
        </p:nvSpPr>
        <p:spPr>
          <a:xfrm rot="0">
            <a:off x="2498531" y="1011190"/>
            <a:ext cx="1243472" cy="358125"/>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a:t>
            </a:r>
          </a:p>
        </p:txBody>
      </p:sp>
      <p:sp>
        <p:nvSpPr>
          <p:cNvPr name="TextBox 15" id="15"/>
          <p:cNvSpPr txBox="true"/>
          <p:nvPr/>
        </p:nvSpPr>
        <p:spPr>
          <a:xfrm rot="0">
            <a:off x="4827591" y="998289"/>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6" id="16"/>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7" id="17"/>
          <p:cNvSpPr txBox="true"/>
          <p:nvPr/>
        </p:nvSpPr>
        <p:spPr>
          <a:xfrm rot="0">
            <a:off x="1433103" y="2169315"/>
            <a:ext cx="5958033" cy="571500"/>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Presnetation of the ONP</a:t>
            </a:r>
          </a:p>
        </p:txBody>
      </p:sp>
      <p:sp>
        <p:nvSpPr>
          <p:cNvPr name="TextBox 18" id="18"/>
          <p:cNvSpPr txBox="true"/>
          <p:nvPr/>
        </p:nvSpPr>
        <p:spPr>
          <a:xfrm rot="0">
            <a:off x="1083224" y="2870718"/>
            <a:ext cx="9966089" cy="24041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The ONP is a public institution created in 1969. It operates under the Ministry of Agriculture and Maritime Fisheries. Its main role is to develop coastal and artisanal fishing, organize and modernize fish marketing, and promote fish consumption in Morocco</a:t>
            </a:r>
          </a:p>
        </p:txBody>
      </p:sp>
      <p:sp>
        <p:nvSpPr>
          <p:cNvPr name="TextBox 19" id="19"/>
          <p:cNvSpPr txBox="true"/>
          <p:nvPr/>
        </p:nvSpPr>
        <p:spPr>
          <a:xfrm rot="0">
            <a:off x="11110736" y="1127696"/>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20" id="20"/>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Technical Environment &amp; Implementation</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75802" y="627948"/>
            <a:ext cx="9254775" cy="57150"/>
            <a:chOff x="0" y="0"/>
            <a:chExt cx="12339701" cy="76200"/>
          </a:xfrm>
        </p:grpSpPr>
        <p:sp>
          <p:nvSpPr>
            <p:cNvPr name="Freeform 3" id="3"/>
            <p:cNvSpPr/>
            <p:nvPr/>
          </p:nvSpPr>
          <p:spPr>
            <a:xfrm flipH="false" flipV="false" rot="0">
              <a:off x="0" y="0"/>
              <a:ext cx="12339701" cy="76200"/>
            </a:xfrm>
            <a:custGeom>
              <a:avLst/>
              <a:gdLst/>
              <a:ahLst/>
              <a:cxnLst/>
              <a:rect r="r" b="b" t="t" l="l"/>
              <a:pathLst>
                <a:path h="76200" w="12339701">
                  <a:moveTo>
                    <a:pt x="19050" y="0"/>
                  </a:moveTo>
                  <a:lnTo>
                    <a:pt x="12320651" y="38100"/>
                  </a:lnTo>
                  <a:cubicBezTo>
                    <a:pt x="12331192" y="38100"/>
                    <a:pt x="12339701" y="46736"/>
                    <a:pt x="12339701" y="57150"/>
                  </a:cubicBezTo>
                  <a:cubicBezTo>
                    <a:pt x="12339701" y="67564"/>
                    <a:pt x="12331065" y="76200"/>
                    <a:pt x="12320651" y="76200"/>
                  </a:cubicBezTo>
                  <a:lnTo>
                    <a:pt x="19050" y="38100"/>
                  </a:lnTo>
                  <a:cubicBezTo>
                    <a:pt x="8509" y="38100"/>
                    <a:pt x="0" y="29464"/>
                    <a:pt x="0" y="19050"/>
                  </a:cubicBezTo>
                  <a:cubicBezTo>
                    <a:pt x="0" y="8636"/>
                    <a:pt x="8636" y="0"/>
                    <a:pt x="19050" y="0"/>
                  </a:cubicBezTo>
                  <a:close/>
                </a:path>
              </a:pathLst>
            </a:custGeom>
            <a:solidFill>
              <a:srgbClr val="4E91F0"/>
            </a:solidFill>
          </p:spPr>
        </p:sp>
      </p:grpSp>
      <p:grpSp>
        <p:nvGrpSpPr>
          <p:cNvPr name="Group 4" id="4"/>
          <p:cNvGrpSpPr/>
          <p:nvPr/>
        </p:nvGrpSpPr>
        <p:grpSpPr>
          <a:xfrm rot="0">
            <a:off x="12915900" y="9505949"/>
            <a:ext cx="4114800" cy="576264"/>
            <a:chOff x="0" y="0"/>
            <a:chExt cx="5486400" cy="768351"/>
          </a:xfrm>
        </p:grpSpPr>
        <p:sp>
          <p:nvSpPr>
            <p:cNvPr name="Freeform 5" id="5"/>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6" id="6"/>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4</a:t>
              </a:r>
            </a:p>
          </p:txBody>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009238"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8617260" y="281894"/>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8"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573062" y="2031503"/>
            <a:ext cx="6598061" cy="628650"/>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 Context and Project Objectives</a:t>
            </a:r>
          </a:p>
        </p:txBody>
      </p:sp>
      <p:grpSp>
        <p:nvGrpSpPr>
          <p:cNvPr name="Group 12" id="12"/>
          <p:cNvGrpSpPr/>
          <p:nvPr/>
        </p:nvGrpSpPr>
        <p:grpSpPr>
          <a:xfrm rot="0">
            <a:off x="3363727" y="615039"/>
            <a:ext cx="1698975" cy="57436"/>
            <a:chOff x="0" y="0"/>
            <a:chExt cx="2265299" cy="76581"/>
          </a:xfrm>
        </p:grpSpPr>
        <p:sp>
          <p:nvSpPr>
            <p:cNvPr name="Freeform 13" id="13"/>
            <p:cNvSpPr/>
            <p:nvPr/>
          </p:nvSpPr>
          <p:spPr>
            <a:xfrm flipH="false" flipV="false" rot="0">
              <a:off x="0" y="0"/>
              <a:ext cx="2265299" cy="76581"/>
            </a:xfrm>
            <a:custGeom>
              <a:avLst/>
              <a:gdLst/>
              <a:ahLst/>
              <a:cxnLst/>
              <a:rect r="r" b="b" t="t" l="l"/>
              <a:pathLst>
                <a:path h="76581" w="2265299">
                  <a:moveTo>
                    <a:pt x="19558" y="127"/>
                  </a:moveTo>
                  <a:lnTo>
                    <a:pt x="2246376" y="38227"/>
                  </a:lnTo>
                  <a:cubicBezTo>
                    <a:pt x="2256917" y="38354"/>
                    <a:pt x="2265299" y="47117"/>
                    <a:pt x="2265045" y="57658"/>
                  </a:cubicBezTo>
                  <a:cubicBezTo>
                    <a:pt x="2264791" y="68199"/>
                    <a:pt x="2256155" y="76581"/>
                    <a:pt x="2245614" y="76327"/>
                  </a:cubicBezTo>
                  <a:lnTo>
                    <a:pt x="18796" y="38227"/>
                  </a:lnTo>
                  <a:cubicBezTo>
                    <a:pt x="8382" y="38100"/>
                    <a:pt x="0" y="29337"/>
                    <a:pt x="127" y="18796"/>
                  </a:cubicBezTo>
                  <a:cubicBezTo>
                    <a:pt x="254" y="8255"/>
                    <a:pt x="9017" y="0"/>
                    <a:pt x="19558" y="127"/>
                  </a:cubicBezTo>
                  <a:close/>
                </a:path>
              </a:pathLst>
            </a:custGeom>
            <a:solidFill>
              <a:srgbClr val="4E91F0"/>
            </a:solidFill>
          </p:spPr>
        </p:sp>
      </p:grpSp>
      <p:sp>
        <p:nvSpPr>
          <p:cNvPr name="Freeform 14" id="14"/>
          <p:cNvSpPr/>
          <p:nvPr/>
        </p:nvSpPr>
        <p:spPr>
          <a:xfrm flipH="false" flipV="false" rot="0">
            <a:off x="11547231" y="301267"/>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2498531" y="1011190"/>
            <a:ext cx="1243472"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a:t>
            </a:r>
          </a:p>
        </p:txBody>
      </p:sp>
      <p:sp>
        <p:nvSpPr>
          <p:cNvPr name="TextBox 16" id="16"/>
          <p:cNvSpPr txBox="true"/>
          <p:nvPr/>
        </p:nvSpPr>
        <p:spPr>
          <a:xfrm rot="0">
            <a:off x="4339394" y="975042"/>
            <a:ext cx="2563545" cy="30480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 The project context</a:t>
            </a:r>
          </a:p>
        </p:txBody>
      </p:sp>
      <p:sp>
        <p:nvSpPr>
          <p:cNvPr name="TextBox 17" id="17"/>
          <p:cNvSpPr txBox="true"/>
          <p:nvPr/>
        </p:nvSpPr>
        <p:spPr>
          <a:xfrm rot="0">
            <a:off x="11110736" y="1127696"/>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8" id="18"/>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9" id="19"/>
          <p:cNvSpPr txBox="true"/>
          <p:nvPr/>
        </p:nvSpPr>
        <p:spPr>
          <a:xfrm rot="0">
            <a:off x="1573062" y="2545853"/>
            <a:ext cx="14395414" cy="4842510"/>
          </a:xfrm>
          <a:prstGeom prst="rect">
            <a:avLst/>
          </a:prstGeom>
        </p:spPr>
        <p:txBody>
          <a:bodyPr anchor="t" rtlCol="false" tIns="0" lIns="0" bIns="0" rIns="0">
            <a:spAutoFit/>
          </a:bodyPr>
          <a:lstStyle/>
          <a:p>
            <a:pPr algn="just">
              <a:lnSpc>
                <a:spcPts val="4860"/>
              </a:lnSpc>
            </a:pPr>
            <a:r>
              <a:rPr lang="en-US" sz="2700" b="true">
                <a:solidFill>
                  <a:srgbClr val="000000"/>
                </a:solidFill>
                <a:latin typeface="Times New Roman Bold"/>
                <a:ea typeface="Times New Roman Bold"/>
                <a:cs typeface="Times New Roman Bold"/>
                <a:sym typeface="Times New Roman Bold"/>
              </a:rPr>
              <a:t>Context</a:t>
            </a:r>
            <a:r>
              <a:rPr lang="en-US" sz="2700">
                <a:solidFill>
                  <a:srgbClr val="000000"/>
                </a:solidFill>
                <a:latin typeface="Times New Roman"/>
                <a:ea typeface="Times New Roman"/>
                <a:cs typeface="Times New Roman"/>
                <a:sym typeface="Times New Roman"/>
              </a:rPr>
              <a:t>:</a:t>
            </a:r>
          </a:p>
          <a:p>
            <a:pPr algn="just">
              <a:lnSpc>
                <a:spcPts val="4860"/>
              </a:lnSpc>
            </a:pPr>
            <a:r>
              <a:rPr lang="en-US" sz="2700">
                <a:solidFill>
                  <a:srgbClr val="000000"/>
                </a:solidFill>
                <a:latin typeface="Times New Roman"/>
                <a:ea typeface="Times New Roman"/>
                <a:cs typeface="Times New Roman"/>
                <a:sym typeface="Times New Roman"/>
              </a:rPr>
              <a:t>project was carried out in a virtual lab simulating a secure local network to test and analyze security mechanisms like firewalls and auditing tools.</a:t>
            </a:r>
          </a:p>
          <a:p>
            <a:pPr algn="just">
              <a:lnSpc>
                <a:spcPts val="4860"/>
              </a:lnSpc>
            </a:pPr>
          </a:p>
          <a:p>
            <a:pPr algn="just">
              <a:lnSpc>
                <a:spcPts val="4860"/>
              </a:lnSpc>
            </a:pPr>
            <a:r>
              <a:rPr lang="en-US" sz="2700" b="true">
                <a:solidFill>
                  <a:srgbClr val="000000"/>
                </a:solidFill>
                <a:latin typeface="Times New Roman Bold"/>
                <a:ea typeface="Times New Roman Bold"/>
                <a:cs typeface="Times New Roman Bold"/>
                <a:sym typeface="Times New Roman Bold"/>
              </a:rPr>
              <a:t>Objectives</a:t>
            </a:r>
            <a:r>
              <a:rPr lang="en-US" sz="2700">
                <a:solidFill>
                  <a:srgbClr val="000000"/>
                </a:solidFill>
                <a:latin typeface="Times New Roman"/>
                <a:ea typeface="Times New Roman"/>
                <a:cs typeface="Times New Roman"/>
                <a:sym typeface="Times New Roman"/>
              </a:rPr>
              <a:t>:</a:t>
            </a:r>
          </a:p>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Strengthen practical skills in network configuration and security management.</a:t>
            </a:r>
          </a:p>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Learn how to protect systems using auditing and firewall rules.</a:t>
            </a:r>
          </a:p>
          <a:p>
            <a:pPr algn="just" marL="737235" indent="-184309" lvl="3">
              <a:lnSpc>
                <a:spcPts val="4860"/>
              </a:lnSpc>
            </a:pPr>
          </a:p>
        </p:txBody>
      </p:sp>
      <p:sp>
        <p:nvSpPr>
          <p:cNvPr name="TextBox 20" id="20"/>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Technical Environment &amp; Implementation</a:t>
            </a:r>
          </a:p>
        </p:txBody>
      </p:sp>
      <p:grpSp>
        <p:nvGrpSpPr>
          <p:cNvPr name="Group 21" id="21"/>
          <p:cNvGrpSpPr/>
          <p:nvPr/>
        </p:nvGrpSpPr>
        <p:grpSpPr>
          <a:xfrm rot="0">
            <a:off x="14593795" y="6857780"/>
            <a:ext cx="3211544" cy="2400491"/>
            <a:chOff x="0" y="0"/>
            <a:chExt cx="4282059" cy="3200654"/>
          </a:xfrm>
        </p:grpSpPr>
        <p:sp>
          <p:nvSpPr>
            <p:cNvPr name="Freeform 22" id="22"/>
            <p:cNvSpPr/>
            <p:nvPr/>
          </p:nvSpPr>
          <p:spPr>
            <a:xfrm flipH="false" flipV="false" rot="0">
              <a:off x="0" y="0"/>
              <a:ext cx="4282059" cy="3200654"/>
            </a:xfrm>
            <a:custGeom>
              <a:avLst/>
              <a:gdLst/>
              <a:ahLst/>
              <a:cxnLst/>
              <a:rect r="r" b="b" t="t" l="l"/>
              <a:pathLst>
                <a:path h="3200654" w="4282059">
                  <a:moveTo>
                    <a:pt x="0" y="0"/>
                  </a:moveTo>
                  <a:lnTo>
                    <a:pt x="4282059" y="0"/>
                  </a:lnTo>
                  <a:lnTo>
                    <a:pt x="4282059" y="3200654"/>
                  </a:lnTo>
                  <a:lnTo>
                    <a:pt x="0" y="3200654"/>
                  </a:lnTo>
                  <a:lnTo>
                    <a:pt x="0" y="0"/>
                  </a:lnTo>
                  <a:close/>
                </a:path>
              </a:pathLst>
            </a:custGeom>
            <a:blipFill>
              <a:blip r:embed="rId6"/>
              <a:stretch>
                <a:fillRect l="0" t="-16893" r="0" b="-16893"/>
              </a:stretch>
            </a:blipFill>
          </p:spPr>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5</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2475284" y="987944"/>
            <a:ext cx="1243472"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a:t>
            </a:r>
          </a:p>
        </p:txBody>
      </p:sp>
      <p:sp>
        <p:nvSpPr>
          <p:cNvPr name="TextBox 12" id="12"/>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Freeform 13" id="13"/>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4339394" y="975042"/>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5" id="15"/>
          <p:cNvSpPr txBox="true"/>
          <p:nvPr/>
        </p:nvSpPr>
        <p:spPr>
          <a:xfrm rot="0">
            <a:off x="7646865" y="941448"/>
            <a:ext cx="2606814" cy="5524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Technical Environment &amp; Implementation</a:t>
            </a:r>
          </a:p>
        </p:txBody>
      </p:sp>
      <p:sp>
        <p:nvSpPr>
          <p:cNvPr name="TextBox 16" id="16"/>
          <p:cNvSpPr txBox="true"/>
          <p:nvPr/>
        </p:nvSpPr>
        <p:spPr>
          <a:xfrm rot="0">
            <a:off x="10994499" y="1081200"/>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7" id="17"/>
          <p:cNvSpPr txBox="true"/>
          <p:nvPr/>
        </p:nvSpPr>
        <p:spPr>
          <a:xfrm rot="0">
            <a:off x="1486286" y="1870364"/>
            <a:ext cx="14974462" cy="1544955"/>
          </a:xfrm>
          <a:prstGeom prst="rect">
            <a:avLst/>
          </a:prstGeom>
        </p:spPr>
        <p:txBody>
          <a:bodyPr anchor="t" rtlCol="false" tIns="0" lIns="0" bIns="0" rIns="0">
            <a:spAutoFit/>
          </a:bodyPr>
          <a:lstStyle/>
          <a:p>
            <a:pPr algn="just">
              <a:lnSpc>
                <a:spcPts val="4320"/>
              </a:lnSpc>
            </a:pPr>
            <a:r>
              <a:rPr lang="en-US" sz="3600" b="true">
                <a:solidFill>
                  <a:srgbClr val="4E91F0"/>
                </a:solidFill>
                <a:latin typeface="Times New Roman Bold"/>
                <a:ea typeface="Times New Roman Bold"/>
                <a:cs typeface="Times New Roman Bold"/>
                <a:sym typeface="Times New Roman Bold"/>
              </a:rPr>
              <a:t>     Tools Used :  </a:t>
            </a:r>
          </a:p>
          <a:p>
            <a:pPr algn="just">
              <a:lnSpc>
                <a:spcPts val="3240"/>
              </a:lnSpc>
            </a:pPr>
          </a:p>
          <a:p>
            <a:pPr algn="just">
              <a:lnSpc>
                <a:spcPts val="4860"/>
              </a:lnSpc>
            </a:pPr>
          </a:p>
        </p:txBody>
      </p:sp>
      <p:grpSp>
        <p:nvGrpSpPr>
          <p:cNvPr name="Group 18" id="18"/>
          <p:cNvGrpSpPr/>
          <p:nvPr/>
        </p:nvGrpSpPr>
        <p:grpSpPr>
          <a:xfrm rot="0">
            <a:off x="1737196" y="6069833"/>
            <a:ext cx="124206" cy="445770"/>
            <a:chOff x="0" y="0"/>
            <a:chExt cx="165608" cy="594360"/>
          </a:xfrm>
        </p:grpSpPr>
        <p:sp>
          <p:nvSpPr>
            <p:cNvPr name="Freeform 19" id="19"/>
            <p:cNvSpPr/>
            <p:nvPr/>
          </p:nvSpPr>
          <p:spPr>
            <a:xfrm flipH="false" flipV="false" rot="0">
              <a:off x="0" y="0"/>
              <a:ext cx="165608" cy="594360"/>
            </a:xfrm>
            <a:custGeom>
              <a:avLst/>
              <a:gdLst/>
              <a:ahLst/>
              <a:cxnLst/>
              <a:rect r="r" b="b" t="t" l="l"/>
              <a:pathLst>
                <a:path h="594360" w="165608">
                  <a:moveTo>
                    <a:pt x="26289" y="10922"/>
                  </a:moveTo>
                  <a:lnTo>
                    <a:pt x="163957" y="577342"/>
                  </a:lnTo>
                  <a:cubicBezTo>
                    <a:pt x="165608" y="584200"/>
                    <a:pt x="161417" y="591058"/>
                    <a:pt x="154559" y="592709"/>
                  </a:cubicBezTo>
                  <a:cubicBezTo>
                    <a:pt x="147701" y="594360"/>
                    <a:pt x="140843" y="590169"/>
                    <a:pt x="139192" y="583311"/>
                  </a:cubicBezTo>
                  <a:lnTo>
                    <a:pt x="1651" y="17018"/>
                  </a:lnTo>
                  <a:cubicBezTo>
                    <a:pt x="0" y="10160"/>
                    <a:pt x="4191" y="3302"/>
                    <a:pt x="10922" y="1651"/>
                  </a:cubicBezTo>
                  <a:cubicBezTo>
                    <a:pt x="17653" y="0"/>
                    <a:pt x="24638" y="4191"/>
                    <a:pt x="26289" y="11049"/>
                  </a:cubicBezTo>
                  <a:close/>
                </a:path>
              </a:pathLst>
            </a:custGeom>
            <a:solidFill>
              <a:srgbClr val="0091EA"/>
            </a:solidFill>
          </p:spPr>
        </p:sp>
      </p:grpSp>
      <p:sp>
        <p:nvSpPr>
          <p:cNvPr name="Freeform 20" id="20"/>
          <p:cNvSpPr/>
          <p:nvPr/>
        </p:nvSpPr>
        <p:spPr>
          <a:xfrm flipH="false" flipV="false" rot="0">
            <a:off x="1028700" y="5350350"/>
            <a:ext cx="1588388" cy="820420"/>
          </a:xfrm>
          <a:custGeom>
            <a:avLst/>
            <a:gdLst/>
            <a:ahLst/>
            <a:cxnLst/>
            <a:rect r="r" b="b" t="t" l="l"/>
            <a:pathLst>
              <a:path h="820420" w="1588388">
                <a:moveTo>
                  <a:pt x="0" y="0"/>
                </a:moveTo>
                <a:lnTo>
                  <a:pt x="1588388" y="0"/>
                </a:lnTo>
                <a:lnTo>
                  <a:pt x="1588388" y="820420"/>
                </a:lnTo>
                <a:lnTo>
                  <a:pt x="0" y="820420"/>
                </a:lnTo>
                <a:lnTo>
                  <a:pt x="0" y="0"/>
                </a:lnTo>
                <a:close/>
              </a:path>
            </a:pathLst>
          </a:custGeom>
          <a:blipFill>
            <a:blip r:embed="rId6">
              <a:extLst>
                <a:ext uri="{96DAC541-7B7A-43D3-8B79-37D633B846F1}">
                  <asvg:svgBlip xmlns:asvg="http://schemas.microsoft.com/office/drawing/2016/SVG/main" r:embed="rId7"/>
                </a:ext>
              </a:extLst>
            </a:blip>
            <a:stretch>
              <a:fillRect l="0" t="-430" r="0" b="-430"/>
            </a:stretch>
          </a:blipFill>
        </p:spPr>
      </p:sp>
      <p:grpSp>
        <p:nvGrpSpPr>
          <p:cNvPr name="Group 21" id="21"/>
          <p:cNvGrpSpPr/>
          <p:nvPr/>
        </p:nvGrpSpPr>
        <p:grpSpPr>
          <a:xfrm rot="0">
            <a:off x="3243456" y="4989588"/>
            <a:ext cx="124206" cy="445770"/>
            <a:chOff x="0" y="0"/>
            <a:chExt cx="165608" cy="594360"/>
          </a:xfrm>
        </p:grpSpPr>
        <p:sp>
          <p:nvSpPr>
            <p:cNvPr name="Freeform 22" id="22"/>
            <p:cNvSpPr/>
            <p:nvPr/>
          </p:nvSpPr>
          <p:spPr>
            <a:xfrm flipH="false" flipV="false" rot="0">
              <a:off x="0" y="0"/>
              <a:ext cx="165608" cy="594360"/>
            </a:xfrm>
            <a:custGeom>
              <a:avLst/>
              <a:gdLst/>
              <a:ahLst/>
              <a:cxnLst/>
              <a:rect r="r" b="b" t="t" l="l"/>
              <a:pathLst>
                <a:path h="594360" w="165608">
                  <a:moveTo>
                    <a:pt x="26289" y="10922"/>
                  </a:moveTo>
                  <a:lnTo>
                    <a:pt x="163957" y="577342"/>
                  </a:lnTo>
                  <a:cubicBezTo>
                    <a:pt x="165608" y="584200"/>
                    <a:pt x="161417" y="591058"/>
                    <a:pt x="154559" y="592709"/>
                  </a:cubicBezTo>
                  <a:cubicBezTo>
                    <a:pt x="147701" y="594360"/>
                    <a:pt x="140843" y="590169"/>
                    <a:pt x="139192" y="583311"/>
                  </a:cubicBezTo>
                  <a:lnTo>
                    <a:pt x="1651" y="17018"/>
                  </a:lnTo>
                  <a:cubicBezTo>
                    <a:pt x="0" y="10160"/>
                    <a:pt x="4191" y="3302"/>
                    <a:pt x="10922" y="1651"/>
                  </a:cubicBezTo>
                  <a:cubicBezTo>
                    <a:pt x="17653" y="0"/>
                    <a:pt x="24638" y="4191"/>
                    <a:pt x="26289" y="11049"/>
                  </a:cubicBezTo>
                  <a:close/>
                </a:path>
              </a:pathLst>
            </a:custGeom>
            <a:solidFill>
              <a:srgbClr val="0091EA"/>
            </a:solidFill>
          </p:spPr>
        </p:sp>
      </p:grpSp>
      <p:sp>
        <p:nvSpPr>
          <p:cNvPr name="Freeform 23" id="23"/>
          <p:cNvSpPr/>
          <p:nvPr/>
        </p:nvSpPr>
        <p:spPr>
          <a:xfrm flipH="false" flipV="false" rot="0">
            <a:off x="2511356" y="5350350"/>
            <a:ext cx="1588366" cy="820420"/>
          </a:xfrm>
          <a:custGeom>
            <a:avLst/>
            <a:gdLst/>
            <a:ahLst/>
            <a:cxnLst/>
            <a:rect r="r" b="b" t="t" l="l"/>
            <a:pathLst>
              <a:path h="820420" w="1588366">
                <a:moveTo>
                  <a:pt x="0" y="0"/>
                </a:moveTo>
                <a:lnTo>
                  <a:pt x="1588366" y="0"/>
                </a:lnTo>
                <a:lnTo>
                  <a:pt x="1588366" y="820420"/>
                </a:lnTo>
                <a:lnTo>
                  <a:pt x="0" y="820420"/>
                </a:lnTo>
                <a:lnTo>
                  <a:pt x="0" y="0"/>
                </a:lnTo>
                <a:close/>
              </a:path>
            </a:pathLst>
          </a:custGeom>
          <a:blipFill>
            <a:blip r:embed="rId8">
              <a:extLst>
                <a:ext uri="{96DAC541-7B7A-43D3-8B79-37D633B846F1}">
                  <asvg:svgBlip xmlns:asvg="http://schemas.microsoft.com/office/drawing/2016/SVG/main" r:embed="rId9"/>
                </a:ext>
              </a:extLst>
            </a:blip>
            <a:stretch>
              <a:fillRect l="0" t="-429" r="0" b="-429"/>
            </a:stretch>
          </a:blipFill>
        </p:spPr>
      </p:sp>
      <p:grpSp>
        <p:nvGrpSpPr>
          <p:cNvPr name="Group 24" id="24"/>
          <p:cNvGrpSpPr/>
          <p:nvPr/>
        </p:nvGrpSpPr>
        <p:grpSpPr>
          <a:xfrm rot="0">
            <a:off x="4742988" y="6069833"/>
            <a:ext cx="124206" cy="445770"/>
            <a:chOff x="0" y="0"/>
            <a:chExt cx="165608" cy="594360"/>
          </a:xfrm>
        </p:grpSpPr>
        <p:sp>
          <p:nvSpPr>
            <p:cNvPr name="Freeform 25" id="25"/>
            <p:cNvSpPr/>
            <p:nvPr/>
          </p:nvSpPr>
          <p:spPr>
            <a:xfrm flipH="false" flipV="false" rot="0">
              <a:off x="0" y="0"/>
              <a:ext cx="165608" cy="594360"/>
            </a:xfrm>
            <a:custGeom>
              <a:avLst/>
              <a:gdLst/>
              <a:ahLst/>
              <a:cxnLst/>
              <a:rect r="r" b="b" t="t" l="l"/>
              <a:pathLst>
                <a:path h="594360" w="165608">
                  <a:moveTo>
                    <a:pt x="26289" y="10922"/>
                  </a:moveTo>
                  <a:lnTo>
                    <a:pt x="163957" y="577342"/>
                  </a:lnTo>
                  <a:cubicBezTo>
                    <a:pt x="165608" y="584200"/>
                    <a:pt x="161417" y="591058"/>
                    <a:pt x="154559" y="592709"/>
                  </a:cubicBezTo>
                  <a:cubicBezTo>
                    <a:pt x="147701" y="594360"/>
                    <a:pt x="140843" y="590169"/>
                    <a:pt x="139192" y="583311"/>
                  </a:cubicBezTo>
                  <a:lnTo>
                    <a:pt x="1651" y="17018"/>
                  </a:lnTo>
                  <a:cubicBezTo>
                    <a:pt x="0" y="10160"/>
                    <a:pt x="4191" y="3302"/>
                    <a:pt x="10922" y="1651"/>
                  </a:cubicBezTo>
                  <a:cubicBezTo>
                    <a:pt x="17653" y="0"/>
                    <a:pt x="24638" y="4191"/>
                    <a:pt x="26289" y="11049"/>
                  </a:cubicBezTo>
                  <a:close/>
                </a:path>
              </a:pathLst>
            </a:custGeom>
            <a:solidFill>
              <a:srgbClr val="0091EA"/>
            </a:solidFill>
          </p:spPr>
        </p:sp>
      </p:grpSp>
      <p:sp>
        <p:nvSpPr>
          <p:cNvPr name="Freeform 26" id="26"/>
          <p:cNvSpPr/>
          <p:nvPr/>
        </p:nvSpPr>
        <p:spPr>
          <a:xfrm flipH="false" flipV="false" rot="0">
            <a:off x="4010200" y="5350350"/>
            <a:ext cx="1589634" cy="820420"/>
          </a:xfrm>
          <a:custGeom>
            <a:avLst/>
            <a:gdLst/>
            <a:ahLst/>
            <a:cxnLst/>
            <a:rect r="r" b="b" t="t" l="l"/>
            <a:pathLst>
              <a:path h="820420" w="1589634">
                <a:moveTo>
                  <a:pt x="0" y="0"/>
                </a:moveTo>
                <a:lnTo>
                  <a:pt x="1589634" y="0"/>
                </a:lnTo>
                <a:lnTo>
                  <a:pt x="1589634" y="820420"/>
                </a:lnTo>
                <a:lnTo>
                  <a:pt x="0" y="820420"/>
                </a:lnTo>
                <a:lnTo>
                  <a:pt x="0" y="0"/>
                </a:lnTo>
                <a:close/>
              </a:path>
            </a:pathLst>
          </a:custGeom>
          <a:blipFill>
            <a:blip r:embed="rId10">
              <a:extLst>
                <a:ext uri="{96DAC541-7B7A-43D3-8B79-37D633B846F1}">
                  <asvg:svgBlip xmlns:asvg="http://schemas.microsoft.com/office/drawing/2016/SVG/main" r:embed="rId11"/>
                </a:ext>
              </a:extLst>
            </a:blip>
            <a:stretch>
              <a:fillRect l="0" t="-470" r="0" b="-470"/>
            </a:stretch>
          </a:blipFill>
        </p:spPr>
      </p:sp>
      <p:grpSp>
        <p:nvGrpSpPr>
          <p:cNvPr name="Group 27" id="27"/>
          <p:cNvGrpSpPr/>
          <p:nvPr/>
        </p:nvGrpSpPr>
        <p:grpSpPr>
          <a:xfrm rot="0">
            <a:off x="6224955" y="5016565"/>
            <a:ext cx="124206" cy="443865"/>
            <a:chOff x="0" y="0"/>
            <a:chExt cx="165608" cy="591820"/>
          </a:xfrm>
        </p:grpSpPr>
        <p:sp>
          <p:nvSpPr>
            <p:cNvPr name="Freeform 28" id="28"/>
            <p:cNvSpPr/>
            <p:nvPr/>
          </p:nvSpPr>
          <p:spPr>
            <a:xfrm flipH="false" flipV="false" rot="0">
              <a:off x="0" y="0"/>
              <a:ext cx="165608" cy="591820"/>
            </a:xfrm>
            <a:custGeom>
              <a:avLst/>
              <a:gdLst/>
              <a:ahLst/>
              <a:cxnLst/>
              <a:rect r="r" b="b" t="t" l="l"/>
              <a:pathLst>
                <a:path h="591820" w="165608">
                  <a:moveTo>
                    <a:pt x="26289" y="10922"/>
                  </a:moveTo>
                  <a:lnTo>
                    <a:pt x="163957" y="574802"/>
                  </a:lnTo>
                  <a:cubicBezTo>
                    <a:pt x="165608" y="581660"/>
                    <a:pt x="161417" y="588518"/>
                    <a:pt x="154686" y="590169"/>
                  </a:cubicBezTo>
                  <a:cubicBezTo>
                    <a:pt x="147955" y="591820"/>
                    <a:pt x="140970" y="587629"/>
                    <a:pt x="139319" y="580898"/>
                  </a:cubicBezTo>
                  <a:lnTo>
                    <a:pt x="1651" y="17018"/>
                  </a:lnTo>
                  <a:cubicBezTo>
                    <a:pt x="0" y="10160"/>
                    <a:pt x="4191" y="3302"/>
                    <a:pt x="10922" y="1651"/>
                  </a:cubicBezTo>
                  <a:cubicBezTo>
                    <a:pt x="17653" y="0"/>
                    <a:pt x="24638" y="4191"/>
                    <a:pt x="26289" y="10922"/>
                  </a:cubicBezTo>
                  <a:close/>
                </a:path>
              </a:pathLst>
            </a:custGeom>
            <a:solidFill>
              <a:srgbClr val="0091EA"/>
            </a:solidFill>
          </p:spPr>
        </p:sp>
      </p:grpSp>
      <p:sp>
        <p:nvSpPr>
          <p:cNvPr name="Freeform 29" id="29"/>
          <p:cNvSpPr/>
          <p:nvPr/>
        </p:nvSpPr>
        <p:spPr>
          <a:xfrm flipH="false" flipV="false" rot="0">
            <a:off x="5492856" y="5350350"/>
            <a:ext cx="1588388" cy="820420"/>
          </a:xfrm>
          <a:custGeom>
            <a:avLst/>
            <a:gdLst/>
            <a:ahLst/>
            <a:cxnLst/>
            <a:rect r="r" b="b" t="t" l="l"/>
            <a:pathLst>
              <a:path h="820420" w="1588388">
                <a:moveTo>
                  <a:pt x="0" y="0"/>
                </a:moveTo>
                <a:lnTo>
                  <a:pt x="1588388" y="0"/>
                </a:lnTo>
                <a:lnTo>
                  <a:pt x="1588388" y="820420"/>
                </a:lnTo>
                <a:lnTo>
                  <a:pt x="0" y="820420"/>
                </a:lnTo>
                <a:lnTo>
                  <a:pt x="0" y="0"/>
                </a:lnTo>
                <a:close/>
              </a:path>
            </a:pathLst>
          </a:custGeom>
          <a:blipFill>
            <a:blip r:embed="rId6">
              <a:extLst>
                <a:ext uri="{96DAC541-7B7A-43D3-8B79-37D633B846F1}">
                  <asvg:svgBlip xmlns:asvg="http://schemas.microsoft.com/office/drawing/2016/SVG/main" r:embed="rId7"/>
                </a:ext>
              </a:extLst>
            </a:blip>
            <a:stretch>
              <a:fillRect l="0" t="-430" r="0" b="-430"/>
            </a:stretch>
          </a:blipFill>
        </p:spPr>
      </p:sp>
      <p:grpSp>
        <p:nvGrpSpPr>
          <p:cNvPr name="Group 30" id="30"/>
          <p:cNvGrpSpPr/>
          <p:nvPr/>
        </p:nvGrpSpPr>
        <p:grpSpPr>
          <a:xfrm rot="0">
            <a:off x="7684271" y="6077772"/>
            <a:ext cx="124206" cy="445770"/>
            <a:chOff x="0" y="0"/>
            <a:chExt cx="165608" cy="594360"/>
          </a:xfrm>
        </p:grpSpPr>
        <p:sp>
          <p:nvSpPr>
            <p:cNvPr name="Freeform 31" id="31"/>
            <p:cNvSpPr/>
            <p:nvPr/>
          </p:nvSpPr>
          <p:spPr>
            <a:xfrm flipH="false" flipV="false" rot="0">
              <a:off x="0" y="0"/>
              <a:ext cx="165608" cy="594360"/>
            </a:xfrm>
            <a:custGeom>
              <a:avLst/>
              <a:gdLst/>
              <a:ahLst/>
              <a:cxnLst/>
              <a:rect r="r" b="b" t="t" l="l"/>
              <a:pathLst>
                <a:path h="594360" w="165608">
                  <a:moveTo>
                    <a:pt x="26289" y="10922"/>
                  </a:moveTo>
                  <a:lnTo>
                    <a:pt x="163957" y="577342"/>
                  </a:lnTo>
                  <a:cubicBezTo>
                    <a:pt x="165608" y="584200"/>
                    <a:pt x="161417" y="591058"/>
                    <a:pt x="154559" y="592709"/>
                  </a:cubicBezTo>
                  <a:cubicBezTo>
                    <a:pt x="147701" y="594360"/>
                    <a:pt x="140843" y="590169"/>
                    <a:pt x="139192" y="583311"/>
                  </a:cubicBezTo>
                  <a:lnTo>
                    <a:pt x="1651" y="17018"/>
                  </a:lnTo>
                  <a:cubicBezTo>
                    <a:pt x="0" y="10160"/>
                    <a:pt x="4191" y="3302"/>
                    <a:pt x="10922" y="1651"/>
                  </a:cubicBezTo>
                  <a:cubicBezTo>
                    <a:pt x="17653" y="0"/>
                    <a:pt x="24638" y="4191"/>
                    <a:pt x="26289" y="11049"/>
                  </a:cubicBezTo>
                  <a:close/>
                </a:path>
              </a:pathLst>
            </a:custGeom>
            <a:solidFill>
              <a:srgbClr val="0091EA"/>
            </a:solidFill>
          </p:spPr>
        </p:sp>
      </p:grpSp>
      <p:sp>
        <p:nvSpPr>
          <p:cNvPr name="Freeform 32" id="32"/>
          <p:cNvSpPr/>
          <p:nvPr/>
        </p:nvSpPr>
        <p:spPr>
          <a:xfrm flipH="false" flipV="false" rot="0">
            <a:off x="6975776" y="5358289"/>
            <a:ext cx="1588388" cy="820420"/>
          </a:xfrm>
          <a:custGeom>
            <a:avLst/>
            <a:gdLst/>
            <a:ahLst/>
            <a:cxnLst/>
            <a:rect r="r" b="b" t="t" l="l"/>
            <a:pathLst>
              <a:path h="820420" w="1588388">
                <a:moveTo>
                  <a:pt x="0" y="0"/>
                </a:moveTo>
                <a:lnTo>
                  <a:pt x="1588388" y="0"/>
                </a:lnTo>
                <a:lnTo>
                  <a:pt x="1588388" y="820420"/>
                </a:lnTo>
                <a:lnTo>
                  <a:pt x="0" y="820420"/>
                </a:lnTo>
                <a:lnTo>
                  <a:pt x="0" y="0"/>
                </a:lnTo>
                <a:close/>
              </a:path>
            </a:pathLst>
          </a:custGeom>
          <a:blipFill>
            <a:blip r:embed="rId12">
              <a:extLst>
                <a:ext uri="{96DAC541-7B7A-43D3-8B79-37D633B846F1}">
                  <asvg:svgBlip xmlns:asvg="http://schemas.microsoft.com/office/drawing/2016/SVG/main" r:embed="rId13"/>
                </a:ext>
              </a:extLst>
            </a:blip>
            <a:stretch>
              <a:fillRect l="0" t="-430" r="0" b="-430"/>
            </a:stretch>
          </a:blipFill>
        </p:spPr>
      </p:sp>
      <p:grpSp>
        <p:nvGrpSpPr>
          <p:cNvPr name="Group 33" id="33"/>
          <p:cNvGrpSpPr/>
          <p:nvPr/>
        </p:nvGrpSpPr>
        <p:grpSpPr>
          <a:xfrm rot="0">
            <a:off x="9190532" y="4997527"/>
            <a:ext cx="124206" cy="445770"/>
            <a:chOff x="0" y="0"/>
            <a:chExt cx="165608" cy="594360"/>
          </a:xfrm>
        </p:grpSpPr>
        <p:sp>
          <p:nvSpPr>
            <p:cNvPr name="Freeform 34" id="34"/>
            <p:cNvSpPr/>
            <p:nvPr/>
          </p:nvSpPr>
          <p:spPr>
            <a:xfrm flipH="false" flipV="false" rot="0">
              <a:off x="0" y="0"/>
              <a:ext cx="165608" cy="594360"/>
            </a:xfrm>
            <a:custGeom>
              <a:avLst/>
              <a:gdLst/>
              <a:ahLst/>
              <a:cxnLst/>
              <a:rect r="r" b="b" t="t" l="l"/>
              <a:pathLst>
                <a:path h="594360" w="165608">
                  <a:moveTo>
                    <a:pt x="26289" y="10922"/>
                  </a:moveTo>
                  <a:lnTo>
                    <a:pt x="163957" y="577342"/>
                  </a:lnTo>
                  <a:cubicBezTo>
                    <a:pt x="165608" y="584200"/>
                    <a:pt x="161417" y="591058"/>
                    <a:pt x="154559" y="592709"/>
                  </a:cubicBezTo>
                  <a:cubicBezTo>
                    <a:pt x="147701" y="594360"/>
                    <a:pt x="140843" y="590169"/>
                    <a:pt x="139192" y="583311"/>
                  </a:cubicBezTo>
                  <a:lnTo>
                    <a:pt x="1651" y="17018"/>
                  </a:lnTo>
                  <a:cubicBezTo>
                    <a:pt x="0" y="10160"/>
                    <a:pt x="4191" y="3302"/>
                    <a:pt x="10922" y="1651"/>
                  </a:cubicBezTo>
                  <a:cubicBezTo>
                    <a:pt x="17653" y="0"/>
                    <a:pt x="24638" y="4191"/>
                    <a:pt x="26289" y="11049"/>
                  </a:cubicBezTo>
                  <a:close/>
                </a:path>
              </a:pathLst>
            </a:custGeom>
            <a:solidFill>
              <a:srgbClr val="0091EA"/>
            </a:solidFill>
          </p:spPr>
        </p:sp>
      </p:grpSp>
      <p:sp>
        <p:nvSpPr>
          <p:cNvPr name="Freeform 35" id="35"/>
          <p:cNvSpPr/>
          <p:nvPr/>
        </p:nvSpPr>
        <p:spPr>
          <a:xfrm flipH="false" flipV="false" rot="0">
            <a:off x="8458432" y="5358289"/>
            <a:ext cx="1588366" cy="820420"/>
          </a:xfrm>
          <a:custGeom>
            <a:avLst/>
            <a:gdLst/>
            <a:ahLst/>
            <a:cxnLst/>
            <a:rect r="r" b="b" t="t" l="l"/>
            <a:pathLst>
              <a:path h="820420" w="1588366">
                <a:moveTo>
                  <a:pt x="0" y="0"/>
                </a:moveTo>
                <a:lnTo>
                  <a:pt x="1588366" y="0"/>
                </a:lnTo>
                <a:lnTo>
                  <a:pt x="1588366" y="820420"/>
                </a:lnTo>
                <a:lnTo>
                  <a:pt x="0" y="820420"/>
                </a:lnTo>
                <a:lnTo>
                  <a:pt x="0" y="0"/>
                </a:lnTo>
                <a:close/>
              </a:path>
            </a:pathLst>
          </a:custGeom>
          <a:blipFill>
            <a:blip r:embed="rId14">
              <a:extLst>
                <a:ext uri="{96DAC541-7B7A-43D3-8B79-37D633B846F1}">
                  <asvg:svgBlip xmlns:asvg="http://schemas.microsoft.com/office/drawing/2016/SVG/main" r:embed="rId15"/>
                </a:ext>
              </a:extLst>
            </a:blip>
            <a:stretch>
              <a:fillRect l="0" t="-429" r="0" b="-429"/>
            </a:stretch>
          </a:blipFill>
        </p:spPr>
      </p:sp>
      <p:grpSp>
        <p:nvGrpSpPr>
          <p:cNvPr name="Group 36" id="36"/>
          <p:cNvGrpSpPr/>
          <p:nvPr/>
        </p:nvGrpSpPr>
        <p:grpSpPr>
          <a:xfrm rot="0">
            <a:off x="10690064" y="6077772"/>
            <a:ext cx="124206" cy="445770"/>
            <a:chOff x="0" y="0"/>
            <a:chExt cx="165608" cy="594360"/>
          </a:xfrm>
        </p:grpSpPr>
        <p:sp>
          <p:nvSpPr>
            <p:cNvPr name="Freeform 37" id="37"/>
            <p:cNvSpPr/>
            <p:nvPr/>
          </p:nvSpPr>
          <p:spPr>
            <a:xfrm flipH="false" flipV="false" rot="0">
              <a:off x="0" y="0"/>
              <a:ext cx="165608" cy="594360"/>
            </a:xfrm>
            <a:custGeom>
              <a:avLst/>
              <a:gdLst/>
              <a:ahLst/>
              <a:cxnLst/>
              <a:rect r="r" b="b" t="t" l="l"/>
              <a:pathLst>
                <a:path h="594360" w="165608">
                  <a:moveTo>
                    <a:pt x="26289" y="10922"/>
                  </a:moveTo>
                  <a:lnTo>
                    <a:pt x="163957" y="577342"/>
                  </a:lnTo>
                  <a:cubicBezTo>
                    <a:pt x="165608" y="584200"/>
                    <a:pt x="161417" y="591058"/>
                    <a:pt x="154559" y="592709"/>
                  </a:cubicBezTo>
                  <a:cubicBezTo>
                    <a:pt x="147701" y="594360"/>
                    <a:pt x="140843" y="590169"/>
                    <a:pt x="139192" y="583311"/>
                  </a:cubicBezTo>
                  <a:lnTo>
                    <a:pt x="1651" y="17018"/>
                  </a:lnTo>
                  <a:cubicBezTo>
                    <a:pt x="0" y="10160"/>
                    <a:pt x="4191" y="3302"/>
                    <a:pt x="10922" y="1651"/>
                  </a:cubicBezTo>
                  <a:cubicBezTo>
                    <a:pt x="17653" y="0"/>
                    <a:pt x="24638" y="4191"/>
                    <a:pt x="26289" y="11049"/>
                  </a:cubicBezTo>
                  <a:close/>
                </a:path>
              </a:pathLst>
            </a:custGeom>
            <a:solidFill>
              <a:srgbClr val="0091EA"/>
            </a:solidFill>
          </p:spPr>
        </p:sp>
      </p:grpSp>
      <p:sp>
        <p:nvSpPr>
          <p:cNvPr name="Freeform 38" id="38"/>
          <p:cNvSpPr/>
          <p:nvPr/>
        </p:nvSpPr>
        <p:spPr>
          <a:xfrm flipH="false" flipV="false" rot="0">
            <a:off x="9957276" y="5358289"/>
            <a:ext cx="1589634" cy="820420"/>
          </a:xfrm>
          <a:custGeom>
            <a:avLst/>
            <a:gdLst/>
            <a:ahLst/>
            <a:cxnLst/>
            <a:rect r="r" b="b" t="t" l="l"/>
            <a:pathLst>
              <a:path h="820420" w="1589634">
                <a:moveTo>
                  <a:pt x="0" y="0"/>
                </a:moveTo>
                <a:lnTo>
                  <a:pt x="1589634" y="0"/>
                </a:lnTo>
                <a:lnTo>
                  <a:pt x="1589634" y="820420"/>
                </a:lnTo>
                <a:lnTo>
                  <a:pt x="0" y="820420"/>
                </a:lnTo>
                <a:lnTo>
                  <a:pt x="0" y="0"/>
                </a:lnTo>
                <a:close/>
              </a:path>
            </a:pathLst>
          </a:custGeom>
          <a:blipFill>
            <a:blip r:embed="rId16">
              <a:extLst>
                <a:ext uri="{96DAC541-7B7A-43D3-8B79-37D633B846F1}">
                  <asvg:svgBlip xmlns:asvg="http://schemas.microsoft.com/office/drawing/2016/SVG/main" r:embed="rId17"/>
                </a:ext>
              </a:extLst>
            </a:blip>
            <a:stretch>
              <a:fillRect l="0" t="-470" r="0" b="-470"/>
            </a:stretch>
          </a:blipFill>
        </p:spPr>
      </p:sp>
      <p:grpSp>
        <p:nvGrpSpPr>
          <p:cNvPr name="Group 39" id="39"/>
          <p:cNvGrpSpPr/>
          <p:nvPr/>
        </p:nvGrpSpPr>
        <p:grpSpPr>
          <a:xfrm rot="0">
            <a:off x="12172032" y="5024504"/>
            <a:ext cx="124206" cy="443865"/>
            <a:chOff x="0" y="0"/>
            <a:chExt cx="165608" cy="591820"/>
          </a:xfrm>
        </p:grpSpPr>
        <p:sp>
          <p:nvSpPr>
            <p:cNvPr name="Freeform 40" id="40"/>
            <p:cNvSpPr/>
            <p:nvPr/>
          </p:nvSpPr>
          <p:spPr>
            <a:xfrm flipH="false" flipV="false" rot="0">
              <a:off x="0" y="0"/>
              <a:ext cx="165608" cy="591820"/>
            </a:xfrm>
            <a:custGeom>
              <a:avLst/>
              <a:gdLst/>
              <a:ahLst/>
              <a:cxnLst/>
              <a:rect r="r" b="b" t="t" l="l"/>
              <a:pathLst>
                <a:path h="591820" w="165608">
                  <a:moveTo>
                    <a:pt x="26289" y="10922"/>
                  </a:moveTo>
                  <a:lnTo>
                    <a:pt x="163957" y="574802"/>
                  </a:lnTo>
                  <a:cubicBezTo>
                    <a:pt x="165608" y="581660"/>
                    <a:pt x="161417" y="588518"/>
                    <a:pt x="154686" y="590169"/>
                  </a:cubicBezTo>
                  <a:cubicBezTo>
                    <a:pt x="147955" y="591820"/>
                    <a:pt x="140970" y="587629"/>
                    <a:pt x="139319" y="580898"/>
                  </a:cubicBezTo>
                  <a:lnTo>
                    <a:pt x="1651" y="17018"/>
                  </a:lnTo>
                  <a:cubicBezTo>
                    <a:pt x="0" y="10160"/>
                    <a:pt x="4191" y="3302"/>
                    <a:pt x="10922" y="1651"/>
                  </a:cubicBezTo>
                  <a:cubicBezTo>
                    <a:pt x="17653" y="0"/>
                    <a:pt x="24638" y="4191"/>
                    <a:pt x="26289" y="10922"/>
                  </a:cubicBezTo>
                  <a:close/>
                </a:path>
              </a:pathLst>
            </a:custGeom>
            <a:solidFill>
              <a:srgbClr val="0091EA"/>
            </a:solidFill>
          </p:spPr>
        </p:sp>
      </p:grpSp>
      <p:sp>
        <p:nvSpPr>
          <p:cNvPr name="Freeform 41" id="41"/>
          <p:cNvSpPr/>
          <p:nvPr/>
        </p:nvSpPr>
        <p:spPr>
          <a:xfrm flipH="false" flipV="false" rot="0">
            <a:off x="11439932" y="5358289"/>
            <a:ext cx="1588388" cy="820420"/>
          </a:xfrm>
          <a:custGeom>
            <a:avLst/>
            <a:gdLst/>
            <a:ahLst/>
            <a:cxnLst/>
            <a:rect r="r" b="b" t="t" l="l"/>
            <a:pathLst>
              <a:path h="820420" w="1588388">
                <a:moveTo>
                  <a:pt x="0" y="0"/>
                </a:moveTo>
                <a:lnTo>
                  <a:pt x="1588388" y="0"/>
                </a:lnTo>
                <a:lnTo>
                  <a:pt x="1588388" y="820420"/>
                </a:lnTo>
                <a:lnTo>
                  <a:pt x="0" y="820420"/>
                </a:lnTo>
                <a:lnTo>
                  <a:pt x="0" y="0"/>
                </a:lnTo>
                <a:close/>
              </a:path>
            </a:pathLst>
          </a:custGeom>
          <a:blipFill>
            <a:blip r:embed="rId12">
              <a:extLst>
                <a:ext uri="{96DAC541-7B7A-43D3-8B79-37D633B846F1}">
                  <asvg:svgBlip xmlns:asvg="http://schemas.microsoft.com/office/drawing/2016/SVG/main" r:embed="rId13"/>
                </a:ext>
              </a:extLst>
            </a:blip>
            <a:stretch>
              <a:fillRect l="0" t="-430" r="0" b="-430"/>
            </a:stretch>
          </a:blipFill>
        </p:spPr>
      </p:sp>
      <p:sp>
        <p:nvSpPr>
          <p:cNvPr name="Freeform 42" id="42"/>
          <p:cNvSpPr/>
          <p:nvPr/>
        </p:nvSpPr>
        <p:spPr>
          <a:xfrm flipH="false" flipV="false" rot="0">
            <a:off x="12984929" y="5349043"/>
            <a:ext cx="1531985" cy="823028"/>
          </a:xfrm>
          <a:custGeom>
            <a:avLst/>
            <a:gdLst/>
            <a:ahLst/>
            <a:cxnLst/>
            <a:rect r="r" b="b" t="t" l="l"/>
            <a:pathLst>
              <a:path h="823028" w="1531985">
                <a:moveTo>
                  <a:pt x="0" y="0"/>
                </a:moveTo>
                <a:lnTo>
                  <a:pt x="1531985" y="0"/>
                </a:lnTo>
                <a:lnTo>
                  <a:pt x="1531985" y="823028"/>
                </a:lnTo>
                <a:lnTo>
                  <a:pt x="0" y="823028"/>
                </a:lnTo>
                <a:lnTo>
                  <a:pt x="0" y="0"/>
                </a:lnTo>
                <a:close/>
              </a:path>
            </a:pathLst>
          </a:custGeom>
          <a:blipFill>
            <a:blip r:embed="rId18">
              <a:extLst>
                <a:ext uri="{96DAC541-7B7A-43D3-8B79-37D633B846F1}">
                  <asvg:svgBlip xmlns:asvg="http://schemas.microsoft.com/office/drawing/2016/SVG/main" r:embed="rId19"/>
                </a:ext>
              </a:extLst>
            </a:blip>
            <a:stretch>
              <a:fillRect l="0" t="-292" r="0" b="-292"/>
            </a:stretch>
          </a:blipFill>
        </p:spPr>
      </p:sp>
      <p:grpSp>
        <p:nvGrpSpPr>
          <p:cNvPr name="Group 43" id="43"/>
          <p:cNvGrpSpPr/>
          <p:nvPr/>
        </p:nvGrpSpPr>
        <p:grpSpPr>
          <a:xfrm rot="0">
            <a:off x="13713206" y="6128620"/>
            <a:ext cx="69532" cy="517207"/>
            <a:chOff x="0" y="0"/>
            <a:chExt cx="92710" cy="689610"/>
          </a:xfrm>
        </p:grpSpPr>
        <p:sp>
          <p:nvSpPr>
            <p:cNvPr name="Freeform 44" id="44"/>
            <p:cNvSpPr/>
            <p:nvPr/>
          </p:nvSpPr>
          <p:spPr>
            <a:xfrm flipH="false" flipV="false" rot="0">
              <a:off x="0" y="0"/>
              <a:ext cx="92710" cy="689610"/>
            </a:xfrm>
            <a:custGeom>
              <a:avLst/>
              <a:gdLst/>
              <a:ahLst/>
              <a:cxnLst/>
              <a:rect r="r" b="b" t="t" l="l"/>
              <a:pathLst>
                <a:path h="689610" w="92710">
                  <a:moveTo>
                    <a:pt x="26035" y="12192"/>
                  </a:moveTo>
                  <a:lnTo>
                    <a:pt x="92075" y="675132"/>
                  </a:lnTo>
                  <a:cubicBezTo>
                    <a:pt x="92710" y="682117"/>
                    <a:pt x="87630" y="688340"/>
                    <a:pt x="80645" y="688975"/>
                  </a:cubicBezTo>
                  <a:cubicBezTo>
                    <a:pt x="73660" y="689610"/>
                    <a:pt x="67437" y="684530"/>
                    <a:pt x="66802" y="677545"/>
                  </a:cubicBezTo>
                  <a:lnTo>
                    <a:pt x="635" y="14732"/>
                  </a:lnTo>
                  <a:cubicBezTo>
                    <a:pt x="0" y="7747"/>
                    <a:pt x="5080" y="1524"/>
                    <a:pt x="12065" y="762"/>
                  </a:cubicBezTo>
                  <a:cubicBezTo>
                    <a:pt x="19050" y="0"/>
                    <a:pt x="25273" y="5207"/>
                    <a:pt x="26035" y="12192"/>
                  </a:cubicBezTo>
                  <a:close/>
                </a:path>
              </a:pathLst>
            </a:custGeom>
            <a:solidFill>
              <a:srgbClr val="0091EA"/>
            </a:solidFill>
          </p:spPr>
        </p:sp>
      </p:grpSp>
      <p:grpSp>
        <p:nvGrpSpPr>
          <p:cNvPr name="Group 45" id="45"/>
          <p:cNvGrpSpPr/>
          <p:nvPr/>
        </p:nvGrpSpPr>
        <p:grpSpPr>
          <a:xfrm rot="0">
            <a:off x="15216540" y="5045909"/>
            <a:ext cx="69818" cy="431577"/>
            <a:chOff x="0" y="0"/>
            <a:chExt cx="93091" cy="575437"/>
          </a:xfrm>
        </p:grpSpPr>
        <p:sp>
          <p:nvSpPr>
            <p:cNvPr name="Freeform 46" id="46"/>
            <p:cNvSpPr/>
            <p:nvPr/>
          </p:nvSpPr>
          <p:spPr>
            <a:xfrm flipH="false" flipV="false" rot="0">
              <a:off x="0" y="0"/>
              <a:ext cx="93091" cy="575437"/>
            </a:xfrm>
            <a:custGeom>
              <a:avLst/>
              <a:gdLst/>
              <a:ahLst/>
              <a:cxnLst/>
              <a:rect r="r" b="b" t="t" l="l"/>
              <a:pathLst>
                <a:path h="575437" w="93091">
                  <a:moveTo>
                    <a:pt x="26035" y="11811"/>
                  </a:moveTo>
                  <a:lnTo>
                    <a:pt x="92202" y="560578"/>
                  </a:lnTo>
                  <a:cubicBezTo>
                    <a:pt x="93091" y="567563"/>
                    <a:pt x="88138" y="573913"/>
                    <a:pt x="81153" y="574675"/>
                  </a:cubicBezTo>
                  <a:cubicBezTo>
                    <a:pt x="74168" y="575437"/>
                    <a:pt x="67818" y="570611"/>
                    <a:pt x="67056" y="563626"/>
                  </a:cubicBezTo>
                  <a:lnTo>
                    <a:pt x="889" y="14859"/>
                  </a:lnTo>
                  <a:cubicBezTo>
                    <a:pt x="0" y="7874"/>
                    <a:pt x="4953" y="1524"/>
                    <a:pt x="11938" y="762"/>
                  </a:cubicBezTo>
                  <a:cubicBezTo>
                    <a:pt x="18923" y="0"/>
                    <a:pt x="25273" y="4826"/>
                    <a:pt x="26035" y="11811"/>
                  </a:cubicBezTo>
                  <a:close/>
                </a:path>
              </a:pathLst>
            </a:custGeom>
            <a:solidFill>
              <a:srgbClr val="0091EA"/>
            </a:solidFill>
          </p:spPr>
        </p:sp>
      </p:grpSp>
      <p:sp>
        <p:nvSpPr>
          <p:cNvPr name="Freeform 47" id="47"/>
          <p:cNvSpPr/>
          <p:nvPr/>
        </p:nvSpPr>
        <p:spPr>
          <a:xfrm flipH="false" flipV="false" rot="0">
            <a:off x="14484061" y="5379218"/>
            <a:ext cx="1534724" cy="809059"/>
          </a:xfrm>
          <a:custGeom>
            <a:avLst/>
            <a:gdLst/>
            <a:ahLst/>
            <a:cxnLst/>
            <a:rect r="r" b="b" t="t" l="l"/>
            <a:pathLst>
              <a:path h="809059" w="1534724">
                <a:moveTo>
                  <a:pt x="0" y="0"/>
                </a:moveTo>
                <a:lnTo>
                  <a:pt x="1534724" y="0"/>
                </a:lnTo>
                <a:lnTo>
                  <a:pt x="1534724" y="809059"/>
                </a:lnTo>
                <a:lnTo>
                  <a:pt x="0" y="809059"/>
                </a:lnTo>
                <a:lnTo>
                  <a:pt x="0" y="0"/>
                </a:lnTo>
                <a:close/>
              </a:path>
            </a:pathLst>
          </a:custGeom>
          <a:blipFill>
            <a:blip r:embed="rId20">
              <a:extLst>
                <a:ext uri="{96DAC541-7B7A-43D3-8B79-37D633B846F1}">
                  <asvg:svgBlip xmlns:asvg="http://schemas.microsoft.com/office/drawing/2016/SVG/main" r:embed="rId21"/>
                </a:ext>
              </a:extLst>
            </a:blip>
            <a:stretch>
              <a:fillRect l="-236" t="0" r="-236" b="0"/>
            </a:stretch>
          </a:blipFill>
        </p:spPr>
      </p:sp>
      <p:grpSp>
        <p:nvGrpSpPr>
          <p:cNvPr name="Group 48" id="48"/>
          <p:cNvGrpSpPr/>
          <p:nvPr/>
        </p:nvGrpSpPr>
        <p:grpSpPr>
          <a:xfrm rot="0">
            <a:off x="14015082" y="2945437"/>
            <a:ext cx="2261425" cy="2072069"/>
            <a:chOff x="0" y="0"/>
            <a:chExt cx="3015234" cy="2762758"/>
          </a:xfrm>
        </p:grpSpPr>
        <p:sp>
          <p:nvSpPr>
            <p:cNvPr name="Freeform 49" id="49"/>
            <p:cNvSpPr/>
            <p:nvPr/>
          </p:nvSpPr>
          <p:spPr>
            <a:xfrm flipH="false" flipV="false" rot="0">
              <a:off x="0" y="0"/>
              <a:ext cx="3015234" cy="2762758"/>
            </a:xfrm>
            <a:custGeom>
              <a:avLst/>
              <a:gdLst/>
              <a:ahLst/>
              <a:cxnLst/>
              <a:rect r="r" b="b" t="t" l="l"/>
              <a:pathLst>
                <a:path h="2762758" w="3015234">
                  <a:moveTo>
                    <a:pt x="0" y="0"/>
                  </a:moveTo>
                  <a:lnTo>
                    <a:pt x="3015234" y="0"/>
                  </a:lnTo>
                  <a:lnTo>
                    <a:pt x="3015234" y="2762758"/>
                  </a:lnTo>
                  <a:lnTo>
                    <a:pt x="0" y="2762758"/>
                  </a:lnTo>
                  <a:lnTo>
                    <a:pt x="0" y="0"/>
                  </a:lnTo>
                  <a:close/>
                </a:path>
              </a:pathLst>
            </a:custGeom>
            <a:blipFill>
              <a:blip r:embed="rId22"/>
              <a:stretch>
                <a:fillRect l="0" t="-99" r="0" b="-99"/>
              </a:stretch>
            </a:blipFill>
          </p:spPr>
        </p:sp>
      </p:grpSp>
      <p:grpSp>
        <p:nvGrpSpPr>
          <p:cNvPr name="Group 50" id="50"/>
          <p:cNvGrpSpPr/>
          <p:nvPr/>
        </p:nvGrpSpPr>
        <p:grpSpPr>
          <a:xfrm rot="0">
            <a:off x="1486286" y="3194283"/>
            <a:ext cx="4036409" cy="2018252"/>
            <a:chOff x="0" y="0"/>
            <a:chExt cx="5381879" cy="2691003"/>
          </a:xfrm>
        </p:grpSpPr>
        <p:sp>
          <p:nvSpPr>
            <p:cNvPr name="Freeform 51" id="51"/>
            <p:cNvSpPr/>
            <p:nvPr/>
          </p:nvSpPr>
          <p:spPr>
            <a:xfrm flipH="false" flipV="false" rot="0">
              <a:off x="0" y="0"/>
              <a:ext cx="5381879" cy="2691003"/>
            </a:xfrm>
            <a:custGeom>
              <a:avLst/>
              <a:gdLst/>
              <a:ahLst/>
              <a:cxnLst/>
              <a:rect r="r" b="b" t="t" l="l"/>
              <a:pathLst>
                <a:path h="2691003" w="5381879">
                  <a:moveTo>
                    <a:pt x="0" y="0"/>
                  </a:moveTo>
                  <a:lnTo>
                    <a:pt x="5381879" y="0"/>
                  </a:lnTo>
                  <a:lnTo>
                    <a:pt x="5381879" y="2691003"/>
                  </a:lnTo>
                  <a:lnTo>
                    <a:pt x="0" y="2691003"/>
                  </a:lnTo>
                  <a:lnTo>
                    <a:pt x="0" y="0"/>
                  </a:lnTo>
                  <a:close/>
                </a:path>
              </a:pathLst>
            </a:custGeom>
            <a:blipFill>
              <a:blip r:embed="rId23"/>
              <a:stretch>
                <a:fillRect l="0" t="-99" r="0" b="-99"/>
              </a:stretch>
            </a:blipFill>
          </p:spPr>
        </p:sp>
      </p:grpSp>
      <p:grpSp>
        <p:nvGrpSpPr>
          <p:cNvPr name="Group 52" id="52"/>
          <p:cNvGrpSpPr/>
          <p:nvPr/>
        </p:nvGrpSpPr>
        <p:grpSpPr>
          <a:xfrm rot="0">
            <a:off x="3782715" y="6513670"/>
            <a:ext cx="2504313" cy="2119027"/>
            <a:chOff x="0" y="0"/>
            <a:chExt cx="3339084" cy="2825369"/>
          </a:xfrm>
        </p:grpSpPr>
        <p:sp>
          <p:nvSpPr>
            <p:cNvPr name="Freeform 53" id="53"/>
            <p:cNvSpPr/>
            <p:nvPr/>
          </p:nvSpPr>
          <p:spPr>
            <a:xfrm flipH="false" flipV="false" rot="0">
              <a:off x="0" y="0"/>
              <a:ext cx="3339084" cy="2825369"/>
            </a:xfrm>
            <a:custGeom>
              <a:avLst/>
              <a:gdLst/>
              <a:ahLst/>
              <a:cxnLst/>
              <a:rect r="r" b="b" t="t" l="l"/>
              <a:pathLst>
                <a:path h="2825369" w="3339084">
                  <a:moveTo>
                    <a:pt x="0" y="0"/>
                  </a:moveTo>
                  <a:lnTo>
                    <a:pt x="3339084" y="0"/>
                  </a:lnTo>
                  <a:lnTo>
                    <a:pt x="3339084" y="2825369"/>
                  </a:lnTo>
                  <a:lnTo>
                    <a:pt x="0" y="2825369"/>
                  </a:lnTo>
                  <a:lnTo>
                    <a:pt x="0" y="0"/>
                  </a:lnTo>
                  <a:close/>
                </a:path>
              </a:pathLst>
            </a:custGeom>
            <a:blipFill>
              <a:blip r:embed="rId24"/>
              <a:stretch>
                <a:fillRect l="-58" t="0" r="-58" b="0"/>
              </a:stretch>
            </a:blipFill>
          </p:spPr>
        </p:sp>
      </p:grpSp>
      <p:grpSp>
        <p:nvGrpSpPr>
          <p:cNvPr name="Group 54" id="54"/>
          <p:cNvGrpSpPr/>
          <p:nvPr/>
        </p:nvGrpSpPr>
        <p:grpSpPr>
          <a:xfrm rot="0">
            <a:off x="8306895" y="3052425"/>
            <a:ext cx="1909477" cy="1909477"/>
            <a:chOff x="0" y="0"/>
            <a:chExt cx="2545969" cy="2545969"/>
          </a:xfrm>
        </p:grpSpPr>
        <p:sp>
          <p:nvSpPr>
            <p:cNvPr name="Freeform 55" id="55"/>
            <p:cNvSpPr/>
            <p:nvPr/>
          </p:nvSpPr>
          <p:spPr>
            <a:xfrm flipH="false" flipV="false" rot="0">
              <a:off x="0" y="0"/>
              <a:ext cx="2545969" cy="2545969"/>
            </a:xfrm>
            <a:custGeom>
              <a:avLst/>
              <a:gdLst/>
              <a:ahLst/>
              <a:cxnLst/>
              <a:rect r="r" b="b" t="t" l="l"/>
              <a:pathLst>
                <a:path h="2545969" w="2545969">
                  <a:moveTo>
                    <a:pt x="0" y="0"/>
                  </a:moveTo>
                  <a:lnTo>
                    <a:pt x="2545969" y="0"/>
                  </a:lnTo>
                  <a:lnTo>
                    <a:pt x="2545969" y="2545969"/>
                  </a:lnTo>
                  <a:lnTo>
                    <a:pt x="0" y="2545969"/>
                  </a:lnTo>
                  <a:lnTo>
                    <a:pt x="0" y="0"/>
                  </a:lnTo>
                  <a:close/>
                </a:path>
              </a:pathLst>
            </a:custGeom>
            <a:blipFill>
              <a:blip r:embed="rId25"/>
              <a:stretch>
                <a:fillRect l="0" t="0" r="0" b="0"/>
              </a:stretch>
            </a:blipFill>
          </p:spPr>
        </p:sp>
      </p:grpSp>
      <p:grpSp>
        <p:nvGrpSpPr>
          <p:cNvPr name="Group 56" id="56"/>
          <p:cNvGrpSpPr/>
          <p:nvPr/>
        </p:nvGrpSpPr>
        <p:grpSpPr>
          <a:xfrm rot="0">
            <a:off x="9894772" y="6645399"/>
            <a:ext cx="1836992" cy="1836992"/>
            <a:chOff x="0" y="0"/>
            <a:chExt cx="2449322" cy="2449322"/>
          </a:xfrm>
        </p:grpSpPr>
        <p:sp>
          <p:nvSpPr>
            <p:cNvPr name="Freeform 57" id="57"/>
            <p:cNvSpPr/>
            <p:nvPr/>
          </p:nvSpPr>
          <p:spPr>
            <a:xfrm flipH="false" flipV="false" rot="0">
              <a:off x="0" y="0"/>
              <a:ext cx="2449322" cy="2449322"/>
            </a:xfrm>
            <a:custGeom>
              <a:avLst/>
              <a:gdLst/>
              <a:ahLst/>
              <a:cxnLst/>
              <a:rect r="r" b="b" t="t" l="l"/>
              <a:pathLst>
                <a:path h="2449322" w="2449322">
                  <a:moveTo>
                    <a:pt x="0" y="0"/>
                  </a:moveTo>
                  <a:lnTo>
                    <a:pt x="2449322" y="0"/>
                  </a:lnTo>
                  <a:lnTo>
                    <a:pt x="2449322" y="2449322"/>
                  </a:lnTo>
                  <a:lnTo>
                    <a:pt x="0" y="2449322"/>
                  </a:lnTo>
                  <a:lnTo>
                    <a:pt x="0" y="0"/>
                  </a:lnTo>
                  <a:close/>
                </a:path>
              </a:pathLst>
            </a:custGeom>
            <a:blipFill>
              <a:blip r:embed="rId26"/>
              <a:stretch>
                <a:fillRect l="0" t="0" r="0" b="0"/>
              </a:stretch>
            </a:blipFill>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6</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910724" y="2404723"/>
            <a:ext cx="13958197" cy="3634334"/>
          </a:xfrm>
          <a:prstGeom prst="rect">
            <a:avLst/>
          </a:prstGeom>
        </p:spPr>
        <p:txBody>
          <a:bodyPr anchor="t" rtlCol="false" tIns="0" lIns="0" bIns="0" rIns="0">
            <a:spAutoFit/>
          </a:bodyPr>
          <a:lstStyle/>
          <a:p>
            <a:pPr algn="just">
              <a:lnSpc>
                <a:spcPts val="4823"/>
              </a:lnSpc>
            </a:pPr>
            <a:r>
              <a:rPr lang="en-US" sz="2679">
                <a:solidFill>
                  <a:srgbClr val="000000"/>
                </a:solidFill>
                <a:latin typeface="Times New Roman"/>
                <a:ea typeface="Times New Roman"/>
                <a:cs typeface="Times New Roman"/>
                <a:sym typeface="Times New Roman"/>
              </a:rPr>
              <a:t>Virtual topology:</a:t>
            </a:r>
          </a:p>
          <a:p>
            <a:pPr algn="just" marL="731569" indent="-182892" lvl="3">
              <a:lnSpc>
                <a:spcPts val="4823"/>
              </a:lnSpc>
              <a:buFont typeface="Arial"/>
              <a:buChar char="￭"/>
            </a:pPr>
            <a:r>
              <a:rPr lang="en-US" b="true" sz="2679">
                <a:solidFill>
                  <a:srgbClr val="000000"/>
                </a:solidFill>
                <a:latin typeface="Times New Roman Bold"/>
                <a:ea typeface="Times New Roman Bold"/>
                <a:cs typeface="Times New Roman Bold"/>
                <a:sym typeface="Times New Roman Bold"/>
              </a:rPr>
              <a:t>pfSense</a:t>
            </a:r>
            <a:r>
              <a:rPr lang="en-US" sz="2679">
                <a:solidFill>
                  <a:srgbClr val="000000"/>
                </a:solidFill>
                <a:latin typeface="Times New Roman"/>
                <a:ea typeface="Times New Roman"/>
                <a:cs typeface="Times New Roman"/>
                <a:sym typeface="Times New Roman"/>
              </a:rPr>
              <a:t>: acts as a firewall between the internal and external networks.</a:t>
            </a:r>
          </a:p>
          <a:p>
            <a:pPr algn="just" marL="731569" indent="-182892" lvl="3">
              <a:lnSpc>
                <a:spcPts val="4823"/>
              </a:lnSpc>
              <a:buFont typeface="Arial"/>
              <a:buChar char="￭"/>
            </a:pPr>
            <a:r>
              <a:rPr lang="en-US" b="true" sz="2679">
                <a:solidFill>
                  <a:srgbClr val="000000"/>
                </a:solidFill>
                <a:latin typeface="Times New Roman Bold"/>
                <a:ea typeface="Times New Roman Bold"/>
                <a:cs typeface="Times New Roman Bold"/>
                <a:sym typeface="Times New Roman Bold"/>
              </a:rPr>
              <a:t>Ubuntu Server</a:t>
            </a:r>
            <a:r>
              <a:rPr lang="en-US" sz="2679">
                <a:solidFill>
                  <a:srgbClr val="000000"/>
                </a:solidFill>
                <a:latin typeface="Times New Roman"/>
                <a:ea typeface="Times New Roman"/>
                <a:cs typeface="Times New Roman"/>
                <a:sym typeface="Times New Roman"/>
              </a:rPr>
              <a:t>: target machine hosting services like SSH and Apache.</a:t>
            </a:r>
          </a:p>
          <a:p>
            <a:pPr algn="just" marL="731569" indent="-182892" lvl="3">
              <a:lnSpc>
                <a:spcPts val="4823"/>
              </a:lnSpc>
              <a:buFont typeface="Arial"/>
              <a:buChar char="￭"/>
            </a:pPr>
            <a:r>
              <a:rPr lang="en-US" b="true" sz="2679">
                <a:solidFill>
                  <a:srgbClr val="000000"/>
                </a:solidFill>
                <a:latin typeface="Times New Roman Bold"/>
                <a:ea typeface="Times New Roman Bold"/>
                <a:cs typeface="Times New Roman Bold"/>
                <a:sym typeface="Times New Roman Bold"/>
              </a:rPr>
              <a:t>Kali Linux</a:t>
            </a:r>
            <a:r>
              <a:rPr lang="en-US" sz="2679">
                <a:solidFill>
                  <a:srgbClr val="000000"/>
                </a:solidFill>
                <a:latin typeface="Times New Roman"/>
                <a:ea typeface="Times New Roman"/>
                <a:cs typeface="Times New Roman"/>
                <a:sym typeface="Times New Roman"/>
              </a:rPr>
              <a:t>: auditing workstation used for scanning and testing security.</a:t>
            </a:r>
          </a:p>
          <a:p>
            <a:pPr algn="just" marL="731569" indent="-182892" lvl="3">
              <a:lnSpc>
                <a:spcPts val="4823"/>
              </a:lnSpc>
            </a:pPr>
          </a:p>
          <a:p>
            <a:pPr algn="just" marL="731569" indent="-182892" lvl="3">
              <a:lnSpc>
                <a:spcPts val="4823"/>
              </a:lnSpc>
            </a:pPr>
          </a:p>
        </p:txBody>
      </p:sp>
      <p:grpSp>
        <p:nvGrpSpPr>
          <p:cNvPr name="Group 13" id="13"/>
          <p:cNvGrpSpPr/>
          <p:nvPr/>
        </p:nvGrpSpPr>
        <p:grpSpPr>
          <a:xfrm rot="0">
            <a:off x="4637581" y="5342371"/>
            <a:ext cx="7324821" cy="4177856"/>
            <a:chOff x="0" y="0"/>
            <a:chExt cx="9766427" cy="5570474"/>
          </a:xfrm>
        </p:grpSpPr>
        <p:sp>
          <p:nvSpPr>
            <p:cNvPr name="Freeform 14" id="14"/>
            <p:cNvSpPr/>
            <p:nvPr/>
          </p:nvSpPr>
          <p:spPr>
            <a:xfrm flipH="false" flipV="false" rot="0">
              <a:off x="0" y="0"/>
              <a:ext cx="9766427" cy="5570474"/>
            </a:xfrm>
            <a:custGeom>
              <a:avLst/>
              <a:gdLst/>
              <a:ahLst/>
              <a:cxnLst/>
              <a:rect r="r" b="b" t="t" l="l"/>
              <a:pathLst>
                <a:path h="5570474" w="9766427">
                  <a:moveTo>
                    <a:pt x="0" y="0"/>
                  </a:moveTo>
                  <a:lnTo>
                    <a:pt x="9766427" y="0"/>
                  </a:lnTo>
                  <a:lnTo>
                    <a:pt x="9766427" y="5570474"/>
                  </a:lnTo>
                  <a:lnTo>
                    <a:pt x="0" y="5570474"/>
                  </a:lnTo>
                  <a:lnTo>
                    <a:pt x="0" y="0"/>
                  </a:lnTo>
                  <a:close/>
                </a:path>
              </a:pathLst>
            </a:custGeom>
            <a:blipFill>
              <a:blip r:embed="rId6"/>
              <a:stretch>
                <a:fillRect l="0" t="-8441" r="0" b="-8441"/>
              </a:stretch>
            </a:blipFill>
          </p:spPr>
        </p:sp>
      </p:grpSp>
      <p:sp>
        <p:nvSpPr>
          <p:cNvPr name="TextBox 15" id="15"/>
          <p:cNvSpPr txBox="true"/>
          <p:nvPr/>
        </p:nvSpPr>
        <p:spPr>
          <a:xfrm rot="0">
            <a:off x="2475284" y="987944"/>
            <a:ext cx="1243472" cy="358125"/>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a:t>
            </a:r>
          </a:p>
        </p:txBody>
      </p:sp>
      <p:sp>
        <p:nvSpPr>
          <p:cNvPr name="TextBox 16" id="16"/>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7" id="17"/>
          <p:cNvSpPr txBox="true"/>
          <p:nvPr/>
        </p:nvSpPr>
        <p:spPr>
          <a:xfrm rot="0">
            <a:off x="4502125" y="1021536"/>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8" id="18"/>
          <p:cNvSpPr txBox="true"/>
          <p:nvPr/>
        </p:nvSpPr>
        <p:spPr>
          <a:xfrm rot="0">
            <a:off x="10994499" y="1081200"/>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9" id="19"/>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Technical Environment &amp; Implementation</a:t>
            </a:r>
          </a:p>
        </p:txBody>
      </p:sp>
      <p:sp>
        <p:nvSpPr>
          <p:cNvPr name="TextBox 20" id="20"/>
          <p:cNvSpPr txBox="true"/>
          <p:nvPr/>
        </p:nvSpPr>
        <p:spPr>
          <a:xfrm rot="0">
            <a:off x="1573062" y="2031503"/>
            <a:ext cx="6598061" cy="628650"/>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Network Architecture</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7</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1389626" y="2660152"/>
            <a:ext cx="5576888" cy="5576888"/>
            <a:chOff x="0" y="0"/>
            <a:chExt cx="7435850" cy="7435850"/>
          </a:xfrm>
        </p:grpSpPr>
        <p:sp>
          <p:nvSpPr>
            <p:cNvPr name="Freeform 13" id="13"/>
            <p:cNvSpPr/>
            <p:nvPr/>
          </p:nvSpPr>
          <p:spPr>
            <a:xfrm flipH="false" flipV="false" rot="0">
              <a:off x="0" y="0"/>
              <a:ext cx="7435850" cy="7435850"/>
            </a:xfrm>
            <a:custGeom>
              <a:avLst/>
              <a:gdLst/>
              <a:ahLst/>
              <a:cxnLst/>
              <a:rect r="r" b="b" t="t" l="l"/>
              <a:pathLst>
                <a:path h="7435850" w="7435850">
                  <a:moveTo>
                    <a:pt x="0" y="0"/>
                  </a:moveTo>
                  <a:lnTo>
                    <a:pt x="7435850" y="0"/>
                  </a:lnTo>
                  <a:lnTo>
                    <a:pt x="7435850" y="7435850"/>
                  </a:lnTo>
                  <a:lnTo>
                    <a:pt x="0" y="7435850"/>
                  </a:lnTo>
                  <a:lnTo>
                    <a:pt x="0" y="0"/>
                  </a:lnTo>
                  <a:close/>
                </a:path>
              </a:pathLst>
            </a:custGeom>
            <a:blipFill>
              <a:blip r:embed="rId6"/>
              <a:stretch>
                <a:fillRect l="0" t="0" r="0" b="0"/>
              </a:stretch>
            </a:blipFill>
          </p:spPr>
        </p:sp>
      </p:grpSp>
      <p:sp>
        <p:nvSpPr>
          <p:cNvPr name="TextBox 14" id="14"/>
          <p:cNvSpPr txBox="true"/>
          <p:nvPr/>
        </p:nvSpPr>
        <p:spPr>
          <a:xfrm rot="0">
            <a:off x="2475284" y="987944"/>
            <a:ext cx="1243472" cy="358125"/>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Introduction</a:t>
            </a:r>
          </a:p>
        </p:txBody>
      </p:sp>
      <p:sp>
        <p:nvSpPr>
          <p:cNvPr name="TextBox 15" id="15"/>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6" id="16"/>
          <p:cNvSpPr txBox="true"/>
          <p:nvPr/>
        </p:nvSpPr>
        <p:spPr>
          <a:xfrm rot="0">
            <a:off x="4502125" y="1021536"/>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7" id="17"/>
          <p:cNvSpPr txBox="true"/>
          <p:nvPr/>
        </p:nvSpPr>
        <p:spPr>
          <a:xfrm rot="0">
            <a:off x="10994499" y="1081200"/>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8" id="18"/>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Technical Environment &amp; Implementation</a:t>
            </a:r>
          </a:p>
        </p:txBody>
      </p:sp>
      <p:sp>
        <p:nvSpPr>
          <p:cNvPr name="TextBox 19" id="19"/>
          <p:cNvSpPr txBox="true"/>
          <p:nvPr/>
        </p:nvSpPr>
        <p:spPr>
          <a:xfrm rot="0">
            <a:off x="1573062" y="2031503"/>
            <a:ext cx="6598061" cy="628650"/>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Implementation Steps</a:t>
            </a:r>
          </a:p>
        </p:txBody>
      </p:sp>
      <p:sp>
        <p:nvSpPr>
          <p:cNvPr name="TextBox 20" id="20"/>
          <p:cNvSpPr txBox="true"/>
          <p:nvPr/>
        </p:nvSpPr>
        <p:spPr>
          <a:xfrm rot="0">
            <a:off x="1083224" y="2870718"/>
            <a:ext cx="9966089" cy="4232910"/>
          </a:xfrm>
          <a:prstGeom prst="rect">
            <a:avLst/>
          </a:prstGeom>
        </p:spPr>
        <p:txBody>
          <a:bodyPr anchor="t" rtlCol="false" tIns="0" lIns="0" bIns="0" rIns="0">
            <a:spAutoFit/>
          </a:bodyPr>
          <a:lstStyle/>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Creation and configuration of virtual machines under VirtualBox (pfSense, Ubuntu, Kali Linux).</a:t>
            </a:r>
          </a:p>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Network setup and service deployment (SSH, Apache).</a:t>
            </a:r>
          </a:p>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Perform initial Nmap scan</a:t>
            </a:r>
          </a:p>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Apply pfSense firewall rules</a:t>
            </a:r>
          </a:p>
          <a:p>
            <a:pPr algn="just" marL="737235" indent="-184309" lvl="3">
              <a:lnSpc>
                <a:spcPts val="4860"/>
              </a:lnSpc>
              <a:buFont typeface="Arial"/>
              <a:buChar char="￭"/>
            </a:pPr>
            <a:r>
              <a:rPr lang="en-US" sz="2700">
                <a:solidFill>
                  <a:srgbClr val="000000"/>
                </a:solidFill>
                <a:latin typeface="Times New Roman"/>
                <a:ea typeface="Times New Roman"/>
                <a:cs typeface="Times New Roman"/>
                <a:sym typeface="Times New Roman"/>
              </a:rPr>
              <a:t>Perform final scan and compare.</a:t>
            </a:r>
          </a:p>
          <a:p>
            <a:pPr algn="just" marL="737235" indent="-184309" lvl="3">
              <a:lnSpc>
                <a:spcPts val="4860"/>
              </a:lnSpc>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8</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12" id="12"/>
          <p:cNvGraphicFramePr>
            <a:graphicFrameLocks noGrp="true"/>
          </p:cNvGraphicFramePr>
          <p:nvPr/>
        </p:nvGraphicFramePr>
        <p:xfrm>
          <a:off x="3071750" y="3121521"/>
          <a:ext cx="10947400" cy="2057400"/>
        </p:xfrm>
        <a:graphic>
          <a:graphicData uri="http://schemas.openxmlformats.org/drawingml/2006/table">
            <a:tbl>
              <a:tblPr/>
              <a:tblGrid>
                <a:gridCol w="4785569"/>
                <a:gridCol w="6161831"/>
              </a:tblGrid>
              <a:tr h="1028700">
                <a:tc>
                  <a:txBody>
                    <a:bodyPr anchor="t" rtlCol="false"/>
                    <a:lstStyle/>
                    <a:p>
                      <a:pPr algn="ctr">
                        <a:lnSpc>
                          <a:spcPts val="3709"/>
                        </a:lnSpc>
                        <a:defRPr/>
                      </a:pPr>
                      <a:r>
                        <a:rPr lang="en-US" sz="2649" b="true">
                          <a:solidFill>
                            <a:srgbClr val="000000"/>
                          </a:solidFill>
                          <a:latin typeface="Times New Roman Bold"/>
                          <a:ea typeface="Times New Roman Bold"/>
                          <a:cs typeface="Times New Roman Bold"/>
                          <a:sym typeface="Times New Roman Bold"/>
                        </a:rPr>
                        <a:t>Before Firewal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569"/>
                        </a:lnSpc>
                        <a:defRPr/>
                      </a:pPr>
                      <a:r>
                        <a:rPr lang="en-US" sz="2549" b="true">
                          <a:solidFill>
                            <a:srgbClr val="000000"/>
                          </a:solidFill>
                          <a:latin typeface="Times New Roman Bold"/>
                          <a:ea typeface="Times New Roman Bold"/>
                          <a:cs typeface="Times New Roman Bold"/>
                          <a:sym typeface="Times New Roman Bold"/>
                        </a:rPr>
                        <a:t>After Firewall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3709"/>
                        </a:lnSpc>
                        <a:defRPr/>
                      </a:pPr>
                      <a:r>
                        <a:rPr lang="en-US" sz="2649">
                          <a:solidFill>
                            <a:srgbClr val="000000"/>
                          </a:solidFill>
                          <a:latin typeface="Times New Roman"/>
                          <a:ea typeface="Times New Roman"/>
                          <a:cs typeface="Times New Roman"/>
                          <a:sym typeface="Times New Roman"/>
                        </a:rPr>
                        <a:t>Ports 22, 80 open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09"/>
                        </a:lnSpc>
                        <a:defRPr/>
                      </a:pPr>
                      <a:r>
                        <a:rPr lang="en-US" sz="2649">
                          <a:solidFill>
                            <a:srgbClr val="000000"/>
                          </a:solidFill>
                          <a:latin typeface="Times New Roman"/>
                          <a:ea typeface="Times New Roman"/>
                          <a:cs typeface="Times New Roman"/>
                          <a:sym typeface="Times New Roman"/>
                        </a:rPr>
                        <a:t>Only port 22 open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2475284" y="987944"/>
            <a:ext cx="1243472"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a:t>
            </a:r>
          </a:p>
        </p:txBody>
      </p:sp>
      <p:sp>
        <p:nvSpPr>
          <p:cNvPr name="TextBox 14" id="14"/>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5" id="15"/>
          <p:cNvSpPr txBox="true"/>
          <p:nvPr/>
        </p:nvSpPr>
        <p:spPr>
          <a:xfrm rot="0">
            <a:off x="4502125" y="1021536"/>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6" id="16"/>
          <p:cNvSpPr txBox="true"/>
          <p:nvPr/>
        </p:nvSpPr>
        <p:spPr>
          <a:xfrm rot="0">
            <a:off x="10994499" y="1081200"/>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7" id="17"/>
          <p:cNvSpPr txBox="true"/>
          <p:nvPr/>
        </p:nvSpPr>
        <p:spPr>
          <a:xfrm rot="0">
            <a:off x="1656324" y="2083296"/>
            <a:ext cx="4370330" cy="628650"/>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Results and Analysis</a:t>
            </a:r>
          </a:p>
        </p:txBody>
      </p:sp>
      <p:sp>
        <p:nvSpPr>
          <p:cNvPr name="TextBox 18" id="18"/>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Technical Environment &amp; Implementation</a:t>
            </a:r>
          </a:p>
        </p:txBody>
      </p:sp>
      <p:sp>
        <p:nvSpPr>
          <p:cNvPr name="TextBox 19" id="19"/>
          <p:cNvSpPr txBox="true"/>
          <p:nvPr/>
        </p:nvSpPr>
        <p:spPr>
          <a:xfrm rot="0">
            <a:off x="1819892" y="5178921"/>
            <a:ext cx="9174607" cy="3741903"/>
          </a:xfrm>
          <a:prstGeom prst="rect">
            <a:avLst/>
          </a:prstGeom>
        </p:spPr>
        <p:txBody>
          <a:bodyPr anchor="t" rtlCol="false" tIns="0" lIns="0" bIns="0" rIns="0">
            <a:spAutoFit/>
          </a:bodyPr>
          <a:lstStyle/>
          <a:p>
            <a:pPr algn="just">
              <a:lnSpc>
                <a:spcPts val="4984"/>
              </a:lnSpc>
            </a:pPr>
            <a:r>
              <a:rPr lang="en-US" sz="2769" b="true">
                <a:solidFill>
                  <a:srgbClr val="000000"/>
                </a:solidFill>
                <a:latin typeface="Times New Roman Bold"/>
                <a:ea typeface="Times New Roman Bold"/>
                <a:cs typeface="Times New Roman Bold"/>
                <a:sym typeface="Times New Roman Bold"/>
              </a:rPr>
              <a:t>Interpretation</a:t>
            </a:r>
            <a:r>
              <a:rPr lang="en-US" sz="2769">
                <a:solidFill>
                  <a:srgbClr val="000000"/>
                </a:solidFill>
                <a:latin typeface="Times New Roman"/>
                <a:ea typeface="Times New Roman"/>
                <a:cs typeface="Times New Roman"/>
                <a:sym typeface="Times New Roman"/>
              </a:rPr>
              <a:t>:</a:t>
            </a:r>
          </a:p>
          <a:p>
            <a:pPr algn="just" marL="756089" indent="-189022" lvl="3">
              <a:lnSpc>
                <a:spcPts val="4984"/>
              </a:lnSpc>
              <a:buFont typeface="Arial"/>
              <a:buChar char="￭"/>
            </a:pPr>
            <a:r>
              <a:rPr lang="en-US" sz="2769">
                <a:solidFill>
                  <a:srgbClr val="000000"/>
                </a:solidFill>
                <a:latin typeface="Times New Roman"/>
                <a:ea typeface="Times New Roman"/>
                <a:cs typeface="Times New Roman"/>
                <a:sym typeface="Times New Roman"/>
              </a:rPr>
              <a:t>The firewall reduced the attack surface.</a:t>
            </a:r>
          </a:p>
          <a:p>
            <a:pPr algn="just" marL="756089" indent="-189022" lvl="3">
              <a:lnSpc>
                <a:spcPts val="4984"/>
              </a:lnSpc>
              <a:buFont typeface="Arial"/>
              <a:buChar char="￭"/>
            </a:pPr>
            <a:r>
              <a:rPr lang="en-US" sz="2769">
                <a:solidFill>
                  <a:srgbClr val="000000"/>
                </a:solidFill>
                <a:latin typeface="Times New Roman"/>
                <a:ea typeface="Times New Roman"/>
                <a:cs typeface="Times New Roman"/>
                <a:sym typeface="Times New Roman"/>
              </a:rPr>
              <a:t>Only essential services remained accessible</a:t>
            </a:r>
          </a:p>
          <a:p>
            <a:pPr algn="just" marL="756089" indent="-189022" lvl="3">
              <a:lnSpc>
                <a:spcPts val="4984"/>
              </a:lnSpc>
            </a:pPr>
          </a:p>
          <a:p>
            <a:pPr algn="just" marL="756089" indent="-189022" lvl="3">
              <a:lnSpc>
                <a:spcPts val="4984"/>
              </a:lnSpc>
            </a:pPr>
          </a:p>
          <a:p>
            <a:pPr algn="just" marL="756089" indent="-189022" lvl="3">
              <a:lnSpc>
                <a:spcPts val="4984"/>
              </a:lnSpc>
            </a:pP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9</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475284" y="987944"/>
            <a:ext cx="1243472"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a:t>
            </a:r>
          </a:p>
        </p:txBody>
      </p:sp>
      <p:sp>
        <p:nvSpPr>
          <p:cNvPr name="TextBox 13" id="13"/>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Conclusion</a:t>
            </a:r>
          </a:p>
        </p:txBody>
      </p:sp>
      <p:sp>
        <p:nvSpPr>
          <p:cNvPr name="TextBox 14" id="14"/>
          <p:cNvSpPr txBox="true"/>
          <p:nvPr/>
        </p:nvSpPr>
        <p:spPr>
          <a:xfrm rot="0">
            <a:off x="4502125" y="1021536"/>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5" id="15"/>
          <p:cNvSpPr txBox="true"/>
          <p:nvPr/>
        </p:nvSpPr>
        <p:spPr>
          <a:xfrm rot="0">
            <a:off x="10994499" y="1081200"/>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6" id="16"/>
          <p:cNvSpPr txBox="true"/>
          <p:nvPr/>
        </p:nvSpPr>
        <p:spPr>
          <a:xfrm rot="0">
            <a:off x="1656324" y="2083296"/>
            <a:ext cx="3977310" cy="628650"/>
          </a:xfrm>
          <a:prstGeom prst="rect">
            <a:avLst/>
          </a:prstGeom>
        </p:spPr>
        <p:txBody>
          <a:bodyPr anchor="t" rtlCol="false" tIns="0" lIns="0" bIns="0" rIns="0">
            <a:spAutoFit/>
          </a:bodyPr>
          <a:lstStyle/>
          <a:p>
            <a:pPr algn="l">
              <a:lnSpc>
                <a:spcPts val="4320"/>
              </a:lnSpc>
            </a:pPr>
            <a:r>
              <a:rPr lang="en-US" sz="3600" b="true">
                <a:solidFill>
                  <a:srgbClr val="4E91F0"/>
                </a:solidFill>
                <a:latin typeface="Times New Roman Bold"/>
                <a:ea typeface="Times New Roman Bold"/>
                <a:cs typeface="Times New Roman Bold"/>
                <a:sym typeface="Times New Roman Bold"/>
              </a:rPr>
              <a:t>Lessons Learned</a:t>
            </a:r>
          </a:p>
        </p:txBody>
      </p:sp>
      <p:sp>
        <p:nvSpPr>
          <p:cNvPr name="TextBox 17" id="17"/>
          <p:cNvSpPr txBox="true"/>
          <p:nvPr/>
        </p:nvSpPr>
        <p:spPr>
          <a:xfrm rot="0">
            <a:off x="1656324" y="2654796"/>
            <a:ext cx="9174607" cy="3741903"/>
          </a:xfrm>
          <a:prstGeom prst="rect">
            <a:avLst/>
          </a:prstGeom>
        </p:spPr>
        <p:txBody>
          <a:bodyPr anchor="t" rtlCol="false" tIns="0" lIns="0" bIns="0" rIns="0">
            <a:spAutoFit/>
          </a:bodyPr>
          <a:lstStyle/>
          <a:p>
            <a:pPr algn="just" marL="756090" indent="-189022" lvl="3">
              <a:lnSpc>
                <a:spcPts val="4984"/>
              </a:lnSpc>
              <a:buFont typeface="Arial"/>
              <a:buChar char="￭"/>
            </a:pPr>
            <a:r>
              <a:rPr lang="en-US" sz="2769">
                <a:solidFill>
                  <a:srgbClr val="000000"/>
                </a:solidFill>
                <a:latin typeface="Times New Roman"/>
                <a:ea typeface="Times New Roman"/>
                <a:cs typeface="Times New Roman"/>
                <a:sym typeface="Times New Roman"/>
              </a:rPr>
              <a:t>I</a:t>
            </a:r>
            <a:r>
              <a:rPr lang="en-US" sz="2769">
                <a:solidFill>
                  <a:srgbClr val="000000"/>
                </a:solidFill>
                <a:latin typeface="Times New Roman"/>
                <a:ea typeface="Times New Roman"/>
                <a:cs typeface="Times New Roman"/>
                <a:sym typeface="Times New Roman"/>
              </a:rPr>
              <a:t>mportance of firewalls in protecting systems.</a:t>
            </a:r>
          </a:p>
          <a:p>
            <a:pPr algn="just" marL="756090" indent="-189022" lvl="3">
              <a:lnSpc>
                <a:spcPts val="4984"/>
              </a:lnSpc>
              <a:buFont typeface="Arial"/>
              <a:buChar char="￭"/>
            </a:pPr>
            <a:r>
              <a:rPr lang="en-US" sz="2769">
                <a:solidFill>
                  <a:srgbClr val="000000"/>
                </a:solidFill>
                <a:latin typeface="Times New Roman"/>
                <a:ea typeface="Times New Roman"/>
                <a:cs typeface="Times New Roman"/>
                <a:sym typeface="Times New Roman"/>
              </a:rPr>
              <a:t>Learned how to configure and test network security.</a:t>
            </a:r>
          </a:p>
          <a:p>
            <a:pPr algn="just" marL="756090" indent="-189022" lvl="3">
              <a:lnSpc>
                <a:spcPts val="4984"/>
              </a:lnSpc>
              <a:buFont typeface="Arial"/>
              <a:buChar char="￭"/>
            </a:pPr>
            <a:r>
              <a:rPr lang="en-US" sz="2769">
                <a:solidFill>
                  <a:srgbClr val="000000"/>
                </a:solidFill>
                <a:latin typeface="Times New Roman"/>
                <a:ea typeface="Times New Roman"/>
                <a:cs typeface="Times New Roman"/>
                <a:sym typeface="Times New Roman"/>
              </a:rPr>
              <a:t>Gained hands-on experience with virtualization and auditing tools.</a:t>
            </a:r>
          </a:p>
          <a:p>
            <a:pPr algn="just" marL="756090" indent="-189022" lvl="3">
              <a:lnSpc>
                <a:spcPts val="4984"/>
              </a:lnSpc>
            </a:pPr>
          </a:p>
          <a:p>
            <a:pPr algn="just" marL="756090" indent="-189022" lvl="3">
              <a:lnSpc>
                <a:spcPts val="4984"/>
              </a:lnSpc>
            </a:pPr>
          </a:p>
        </p:txBody>
      </p:sp>
      <p:sp>
        <p:nvSpPr>
          <p:cNvPr name="TextBox 18" id="18"/>
          <p:cNvSpPr txBox="true"/>
          <p:nvPr/>
        </p:nvSpPr>
        <p:spPr>
          <a:xfrm rot="0">
            <a:off x="7623616" y="1088982"/>
            <a:ext cx="2949177" cy="5524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Technical Environment &amp; Implementation</a:t>
            </a:r>
          </a:p>
        </p:txBody>
      </p:sp>
      <p:grpSp>
        <p:nvGrpSpPr>
          <p:cNvPr name="Group 19" id="19"/>
          <p:cNvGrpSpPr/>
          <p:nvPr/>
        </p:nvGrpSpPr>
        <p:grpSpPr>
          <a:xfrm rot="0">
            <a:off x="10974119" y="2440484"/>
            <a:ext cx="6407849" cy="6407849"/>
            <a:chOff x="0" y="0"/>
            <a:chExt cx="8543798" cy="8543798"/>
          </a:xfrm>
        </p:grpSpPr>
        <p:sp>
          <p:nvSpPr>
            <p:cNvPr name="Freeform 20" id="20"/>
            <p:cNvSpPr/>
            <p:nvPr/>
          </p:nvSpPr>
          <p:spPr>
            <a:xfrm flipH="false" flipV="false" rot="0">
              <a:off x="0" y="0"/>
              <a:ext cx="8543798" cy="8543798"/>
            </a:xfrm>
            <a:custGeom>
              <a:avLst/>
              <a:gdLst/>
              <a:ahLst/>
              <a:cxnLst/>
              <a:rect r="r" b="b" t="t" l="l"/>
              <a:pathLst>
                <a:path h="8543798" w="8543798">
                  <a:moveTo>
                    <a:pt x="0" y="0"/>
                  </a:moveTo>
                  <a:lnTo>
                    <a:pt x="8543798" y="0"/>
                  </a:lnTo>
                  <a:lnTo>
                    <a:pt x="8543798" y="8543798"/>
                  </a:lnTo>
                  <a:lnTo>
                    <a:pt x="0" y="8543798"/>
                  </a:lnTo>
                  <a:lnTo>
                    <a:pt x="0" y="0"/>
                  </a:lnTo>
                  <a:close/>
                </a:path>
              </a:pathLst>
            </a:custGeom>
            <a:blipFill>
              <a:blip r:embed="rId6"/>
              <a:stretch>
                <a:fillRect l="0" t="0" r="0" b="0"/>
              </a:stretch>
            </a:blipFill>
          </p:spPr>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15900" y="9505949"/>
            <a:ext cx="4114800" cy="576264"/>
            <a:chOff x="0" y="0"/>
            <a:chExt cx="5486400" cy="768351"/>
          </a:xfrm>
        </p:grpSpPr>
        <p:sp>
          <p:nvSpPr>
            <p:cNvPr name="Freeform 3" id="3"/>
            <p:cNvSpPr/>
            <p:nvPr/>
          </p:nvSpPr>
          <p:spPr>
            <a:xfrm flipH="false" flipV="false" rot="0">
              <a:off x="0" y="0"/>
              <a:ext cx="5486400" cy="768351"/>
            </a:xfrm>
            <a:custGeom>
              <a:avLst/>
              <a:gdLst/>
              <a:ahLst/>
              <a:cxnLst/>
              <a:rect r="r" b="b" t="t" l="l"/>
              <a:pathLst>
                <a:path h="768351" w="5486400">
                  <a:moveTo>
                    <a:pt x="0" y="0"/>
                  </a:moveTo>
                  <a:lnTo>
                    <a:pt x="5486400" y="0"/>
                  </a:lnTo>
                  <a:lnTo>
                    <a:pt x="5486400" y="768351"/>
                  </a:lnTo>
                  <a:lnTo>
                    <a:pt x="0" y="768351"/>
                  </a:lnTo>
                  <a:close/>
                </a:path>
              </a:pathLst>
            </a:custGeom>
            <a:solidFill>
              <a:srgbClr val="000000">
                <a:alpha val="0"/>
              </a:srgbClr>
            </a:solidFill>
          </p:spPr>
        </p:sp>
        <p:sp>
          <p:nvSpPr>
            <p:cNvPr name="TextBox 4" id="4"/>
            <p:cNvSpPr txBox="true"/>
            <p:nvPr/>
          </p:nvSpPr>
          <p:spPr>
            <a:xfrm>
              <a:off x="0" y="-19050"/>
              <a:ext cx="5486400" cy="787401"/>
            </a:xfrm>
            <a:prstGeom prst="rect">
              <a:avLst/>
            </a:prstGeom>
          </p:spPr>
          <p:txBody>
            <a:bodyPr anchor="ctr" rtlCol="false" tIns="0" lIns="0" bIns="0" rIns="0"/>
            <a:lstStyle/>
            <a:p>
              <a:pPr algn="r">
                <a:lnSpc>
                  <a:spcPts val="2160"/>
                </a:lnSpc>
              </a:pPr>
              <a:r>
                <a:rPr lang="en-US" sz="1800">
                  <a:solidFill>
                    <a:srgbClr val="898989"/>
                  </a:solidFill>
                  <a:latin typeface="Arimo"/>
                  <a:ea typeface="Arimo"/>
                  <a:cs typeface="Arimo"/>
                  <a:sym typeface="Arimo"/>
                </a:rPr>
                <a:t>10</a:t>
              </a:r>
            </a:p>
          </p:txBody>
        </p:sp>
      </p:grpSp>
      <p:grpSp>
        <p:nvGrpSpPr>
          <p:cNvPr name="Group 5" id="5"/>
          <p:cNvGrpSpPr/>
          <p:nvPr/>
        </p:nvGrpSpPr>
        <p:grpSpPr>
          <a:xfrm rot="0">
            <a:off x="3364640" y="615134"/>
            <a:ext cx="10866025" cy="57150"/>
            <a:chOff x="0" y="0"/>
            <a:chExt cx="14488033" cy="76200"/>
          </a:xfrm>
        </p:grpSpPr>
        <p:sp>
          <p:nvSpPr>
            <p:cNvPr name="Freeform 6" id="6"/>
            <p:cNvSpPr/>
            <p:nvPr/>
          </p:nvSpPr>
          <p:spPr>
            <a:xfrm flipH="false" flipV="false" rot="0">
              <a:off x="0" y="0"/>
              <a:ext cx="14488033" cy="76200"/>
            </a:xfrm>
            <a:custGeom>
              <a:avLst/>
              <a:gdLst/>
              <a:ahLst/>
              <a:cxnLst/>
              <a:rect r="r" b="b" t="t" l="l"/>
              <a:pathLst>
                <a:path h="76200" w="14488033">
                  <a:moveTo>
                    <a:pt x="19050" y="0"/>
                  </a:moveTo>
                  <a:lnTo>
                    <a:pt x="14468983" y="38100"/>
                  </a:lnTo>
                  <a:cubicBezTo>
                    <a:pt x="14479524" y="38100"/>
                    <a:pt x="14488033" y="46736"/>
                    <a:pt x="14488033" y="57150"/>
                  </a:cubicBezTo>
                  <a:cubicBezTo>
                    <a:pt x="14488033" y="67564"/>
                    <a:pt x="14479397" y="76200"/>
                    <a:pt x="14468983" y="76200"/>
                  </a:cubicBezTo>
                  <a:lnTo>
                    <a:pt x="19050" y="38100"/>
                  </a:lnTo>
                  <a:cubicBezTo>
                    <a:pt x="8509" y="38100"/>
                    <a:pt x="0" y="29464"/>
                    <a:pt x="0" y="19050"/>
                  </a:cubicBezTo>
                  <a:cubicBezTo>
                    <a:pt x="0" y="8636"/>
                    <a:pt x="8636" y="0"/>
                    <a:pt x="19050" y="0"/>
                  </a:cubicBezTo>
                  <a:close/>
                </a:path>
              </a:pathLst>
            </a:custGeom>
            <a:solidFill>
              <a:srgbClr val="4E91F0"/>
            </a:solidFill>
          </p:spPr>
        </p:sp>
      </p:grpSp>
      <p:sp>
        <p:nvSpPr>
          <p:cNvPr name="Freeform 7" id="7"/>
          <p:cNvSpPr/>
          <p:nvPr/>
        </p:nvSpPr>
        <p:spPr>
          <a:xfrm flipH="false" flipV="false" rot="0">
            <a:off x="2726322"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288206" y="28189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570764" y="29269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178066" y="305142"/>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616970" y="324515"/>
            <a:ext cx="690848" cy="690848"/>
          </a:xfrm>
          <a:custGeom>
            <a:avLst/>
            <a:gdLst/>
            <a:ahLst/>
            <a:cxnLst/>
            <a:rect r="r" b="b" t="t" l="l"/>
            <a:pathLst>
              <a:path h="690848" w="690848">
                <a:moveTo>
                  <a:pt x="0" y="0"/>
                </a:moveTo>
                <a:lnTo>
                  <a:pt x="690848" y="0"/>
                </a:lnTo>
                <a:lnTo>
                  <a:pt x="690848" y="690848"/>
                </a:lnTo>
                <a:lnTo>
                  <a:pt x="0" y="6908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10994499" y="2677192"/>
            <a:ext cx="5195506" cy="5195506"/>
            <a:chOff x="0" y="0"/>
            <a:chExt cx="6927342" cy="6927342"/>
          </a:xfrm>
        </p:grpSpPr>
        <p:sp>
          <p:nvSpPr>
            <p:cNvPr name="Freeform 13" id="13"/>
            <p:cNvSpPr/>
            <p:nvPr/>
          </p:nvSpPr>
          <p:spPr>
            <a:xfrm flipH="false" flipV="false" rot="0">
              <a:off x="0" y="0"/>
              <a:ext cx="6927342" cy="6927342"/>
            </a:xfrm>
            <a:custGeom>
              <a:avLst/>
              <a:gdLst/>
              <a:ahLst/>
              <a:cxnLst/>
              <a:rect r="r" b="b" t="t" l="l"/>
              <a:pathLst>
                <a:path h="6927342" w="6927342">
                  <a:moveTo>
                    <a:pt x="0" y="0"/>
                  </a:moveTo>
                  <a:lnTo>
                    <a:pt x="6927342" y="0"/>
                  </a:lnTo>
                  <a:lnTo>
                    <a:pt x="6927342" y="6927342"/>
                  </a:lnTo>
                  <a:lnTo>
                    <a:pt x="0" y="6927342"/>
                  </a:lnTo>
                  <a:lnTo>
                    <a:pt x="0" y="0"/>
                  </a:lnTo>
                  <a:close/>
                </a:path>
              </a:pathLst>
            </a:custGeom>
            <a:blipFill>
              <a:blip r:embed="rId6"/>
              <a:stretch>
                <a:fillRect l="0" t="0" r="0" b="0"/>
              </a:stretch>
            </a:blipFill>
          </p:spPr>
        </p:sp>
      </p:grpSp>
      <p:sp>
        <p:nvSpPr>
          <p:cNvPr name="TextBox 14" id="14"/>
          <p:cNvSpPr txBox="true"/>
          <p:nvPr/>
        </p:nvSpPr>
        <p:spPr>
          <a:xfrm rot="0">
            <a:off x="2475284" y="987944"/>
            <a:ext cx="1243472" cy="358125"/>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Introduction</a:t>
            </a:r>
          </a:p>
        </p:txBody>
      </p:sp>
      <p:sp>
        <p:nvSpPr>
          <p:cNvPr name="TextBox 15" id="15"/>
          <p:cNvSpPr txBox="true"/>
          <p:nvPr/>
        </p:nvSpPr>
        <p:spPr>
          <a:xfrm rot="0">
            <a:off x="14041790" y="1068032"/>
            <a:ext cx="1104010" cy="358125"/>
          </a:xfrm>
          <a:prstGeom prst="rect">
            <a:avLst/>
          </a:prstGeom>
        </p:spPr>
        <p:txBody>
          <a:bodyPr anchor="t" rtlCol="false" tIns="0" lIns="0" bIns="0" rIns="0">
            <a:spAutoFit/>
          </a:bodyPr>
          <a:lstStyle/>
          <a:p>
            <a:pPr algn="ctr">
              <a:lnSpc>
                <a:spcPts val="1980"/>
              </a:lnSpc>
            </a:pPr>
            <a:r>
              <a:rPr lang="en-US" sz="1650" b="true">
                <a:solidFill>
                  <a:srgbClr val="4E91F0"/>
                </a:solidFill>
                <a:latin typeface="Times New Roman Bold"/>
                <a:ea typeface="Times New Roman Bold"/>
                <a:cs typeface="Times New Roman Bold"/>
                <a:sym typeface="Times New Roman Bold"/>
              </a:rPr>
              <a:t>Conclusion</a:t>
            </a:r>
          </a:p>
        </p:txBody>
      </p:sp>
      <p:sp>
        <p:nvSpPr>
          <p:cNvPr name="TextBox 16" id="16"/>
          <p:cNvSpPr txBox="true"/>
          <p:nvPr/>
        </p:nvSpPr>
        <p:spPr>
          <a:xfrm rot="0">
            <a:off x="4502125" y="1021536"/>
            <a:ext cx="2563545" cy="30480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 The project context</a:t>
            </a:r>
          </a:p>
        </p:txBody>
      </p:sp>
      <p:sp>
        <p:nvSpPr>
          <p:cNvPr name="TextBox 17" id="17"/>
          <p:cNvSpPr txBox="true"/>
          <p:nvPr/>
        </p:nvSpPr>
        <p:spPr>
          <a:xfrm rot="0">
            <a:off x="7693361" y="1011190"/>
            <a:ext cx="2606814" cy="552450"/>
          </a:xfrm>
          <a:prstGeom prst="rect">
            <a:avLst/>
          </a:prstGeom>
        </p:spPr>
        <p:txBody>
          <a:bodyPr anchor="t" rtlCol="false" tIns="0" lIns="0" bIns="0" rIns="0">
            <a:spAutoFit/>
          </a:bodyPr>
          <a:lstStyle/>
          <a:p>
            <a:pPr algn="ctr">
              <a:lnSpc>
                <a:spcPts val="1980"/>
              </a:lnSpc>
            </a:pPr>
            <a:r>
              <a:rPr lang="en-US" sz="1650" b="true">
                <a:solidFill>
                  <a:srgbClr val="A6A6A6"/>
                </a:solidFill>
                <a:latin typeface="Times New Roman Bold"/>
                <a:ea typeface="Times New Roman Bold"/>
                <a:cs typeface="Times New Roman Bold"/>
                <a:sym typeface="Times New Roman Bold"/>
              </a:rPr>
              <a:t>Technical Environment &amp; Implementation</a:t>
            </a:r>
          </a:p>
        </p:txBody>
      </p:sp>
      <p:sp>
        <p:nvSpPr>
          <p:cNvPr name="TextBox 18" id="18"/>
          <p:cNvSpPr txBox="true"/>
          <p:nvPr/>
        </p:nvSpPr>
        <p:spPr>
          <a:xfrm rot="0">
            <a:off x="10994499" y="1081200"/>
            <a:ext cx="2165112" cy="304800"/>
          </a:xfrm>
          <a:prstGeom prst="rect">
            <a:avLst/>
          </a:prstGeom>
        </p:spPr>
        <p:txBody>
          <a:bodyPr anchor="t" rtlCol="false" tIns="0" lIns="0" bIns="0" rIns="0">
            <a:spAutoFit/>
          </a:bodyPr>
          <a:lstStyle/>
          <a:p>
            <a:pPr algn="l">
              <a:lnSpc>
                <a:spcPts val="1980"/>
              </a:lnSpc>
            </a:pPr>
            <a:r>
              <a:rPr lang="en-US" sz="1650" b="true">
                <a:solidFill>
                  <a:srgbClr val="A6A6A6"/>
                </a:solidFill>
                <a:latin typeface="Times New Roman Bold"/>
                <a:ea typeface="Times New Roman Bold"/>
                <a:cs typeface="Times New Roman Bold"/>
                <a:sym typeface="Times New Roman Bold"/>
              </a:rPr>
              <a:t>Results and Analysis</a:t>
            </a:r>
          </a:p>
        </p:txBody>
      </p:sp>
      <p:sp>
        <p:nvSpPr>
          <p:cNvPr name="TextBox 19" id="19"/>
          <p:cNvSpPr txBox="true"/>
          <p:nvPr/>
        </p:nvSpPr>
        <p:spPr>
          <a:xfrm rot="0">
            <a:off x="1667512" y="2385513"/>
            <a:ext cx="2301455" cy="686783"/>
          </a:xfrm>
          <a:prstGeom prst="rect">
            <a:avLst/>
          </a:prstGeom>
        </p:spPr>
        <p:txBody>
          <a:bodyPr anchor="t" rtlCol="false" tIns="0" lIns="0" bIns="0" rIns="0">
            <a:spAutoFit/>
          </a:bodyPr>
          <a:lstStyle/>
          <a:p>
            <a:pPr algn="ctr">
              <a:lnSpc>
                <a:spcPts val="4320"/>
              </a:lnSpc>
            </a:pPr>
            <a:r>
              <a:rPr lang="en-US" sz="3600" b="true">
                <a:solidFill>
                  <a:srgbClr val="4E91F0"/>
                </a:solidFill>
                <a:latin typeface="Times New Roman Bold"/>
                <a:ea typeface="Times New Roman Bold"/>
                <a:cs typeface="Times New Roman Bold"/>
                <a:sym typeface="Times New Roman Bold"/>
              </a:rPr>
              <a:t>Conclusion</a:t>
            </a:r>
          </a:p>
        </p:txBody>
      </p:sp>
      <p:sp>
        <p:nvSpPr>
          <p:cNvPr name="TextBox 20" id="20"/>
          <p:cNvSpPr txBox="true"/>
          <p:nvPr/>
        </p:nvSpPr>
        <p:spPr>
          <a:xfrm rot="0">
            <a:off x="1466621" y="2967521"/>
            <a:ext cx="8634555" cy="1794510"/>
          </a:xfrm>
          <a:prstGeom prst="rect">
            <a:avLst/>
          </a:prstGeom>
        </p:spPr>
        <p:txBody>
          <a:bodyPr anchor="t" rtlCol="false" tIns="0" lIns="0" bIns="0" rIns="0">
            <a:spAutoFit/>
          </a:bodyPr>
          <a:lstStyle/>
          <a:p>
            <a:pPr algn="just">
              <a:lnSpc>
                <a:spcPts val="4860"/>
              </a:lnSpc>
            </a:pPr>
            <a:r>
              <a:rPr lang="en-US" sz="2700">
                <a:solidFill>
                  <a:srgbClr val="000000"/>
                </a:solidFill>
                <a:latin typeface="Times New Roman"/>
                <a:ea typeface="Times New Roman"/>
                <a:cs typeface="Times New Roman"/>
                <a:sym typeface="Times New Roman"/>
              </a:rPr>
              <a:t>This project allowed me to combine theoretical and practical knowledge. It demonstrated the importance of network security and strengthened my technical and analytical skills.</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723796"/>
            <a:ext cx="11843192" cy="5330682"/>
            <a:chOff x="0" y="0"/>
            <a:chExt cx="15790923" cy="7107576"/>
          </a:xfrm>
        </p:grpSpPr>
        <p:sp>
          <p:nvSpPr>
            <p:cNvPr name="Freeform 3" id="3"/>
            <p:cNvSpPr/>
            <p:nvPr/>
          </p:nvSpPr>
          <p:spPr>
            <a:xfrm flipH="false" flipV="false" rot="0">
              <a:off x="0" y="0"/>
              <a:ext cx="15790923" cy="7107575"/>
            </a:xfrm>
            <a:custGeom>
              <a:avLst/>
              <a:gdLst/>
              <a:ahLst/>
              <a:cxnLst/>
              <a:rect r="r" b="b" t="t" l="l"/>
              <a:pathLst>
                <a:path h="7107575" w="15790923">
                  <a:moveTo>
                    <a:pt x="0" y="0"/>
                  </a:moveTo>
                  <a:lnTo>
                    <a:pt x="15790923" y="0"/>
                  </a:lnTo>
                  <a:lnTo>
                    <a:pt x="15790923" y="7107575"/>
                  </a:lnTo>
                  <a:lnTo>
                    <a:pt x="0" y="7107575"/>
                  </a:lnTo>
                  <a:close/>
                </a:path>
              </a:pathLst>
            </a:custGeom>
            <a:solidFill>
              <a:srgbClr val="000000">
                <a:alpha val="0"/>
              </a:srgbClr>
            </a:solidFill>
          </p:spPr>
        </p:sp>
        <p:sp>
          <p:nvSpPr>
            <p:cNvPr name="TextBox 4" id="4"/>
            <p:cNvSpPr txBox="true"/>
            <p:nvPr/>
          </p:nvSpPr>
          <p:spPr>
            <a:xfrm>
              <a:off x="0" y="-9525"/>
              <a:ext cx="15790923" cy="7117101"/>
            </a:xfrm>
            <a:prstGeom prst="rect">
              <a:avLst/>
            </a:prstGeom>
          </p:spPr>
          <p:txBody>
            <a:bodyPr anchor="b" rtlCol="false" tIns="0" lIns="0" bIns="0" rIns="0"/>
            <a:lstStyle/>
            <a:p>
              <a:pPr algn="l">
                <a:lnSpc>
                  <a:spcPts val="11880"/>
                </a:lnSpc>
              </a:pPr>
              <a:r>
                <a:rPr lang="en-US" sz="9900" b="true">
                  <a:solidFill>
                    <a:srgbClr val="0091EA"/>
                  </a:solidFill>
                  <a:latin typeface="Roboto Bold"/>
                  <a:ea typeface="Roboto Bold"/>
                  <a:cs typeface="Roboto Bold"/>
                  <a:sym typeface="Roboto Bold"/>
                </a:rPr>
                <a:t>Thank you for your attention !</a:t>
              </a:r>
            </a:p>
            <a:p>
              <a:pPr algn="l">
                <a:lnSpc>
                  <a:spcPts val="14400"/>
                </a:lnSpc>
              </a:pPr>
            </a:p>
          </p:txBody>
        </p:sp>
      </p:grpSp>
      <p:grpSp>
        <p:nvGrpSpPr>
          <p:cNvPr name="Group 5" id="5"/>
          <p:cNvGrpSpPr/>
          <p:nvPr/>
        </p:nvGrpSpPr>
        <p:grpSpPr>
          <a:xfrm rot="0">
            <a:off x="10902315" y="2539099"/>
            <a:ext cx="6356985" cy="6356985"/>
            <a:chOff x="0" y="0"/>
            <a:chExt cx="8475980" cy="8475980"/>
          </a:xfrm>
        </p:grpSpPr>
        <p:sp>
          <p:nvSpPr>
            <p:cNvPr name="Freeform 6" id="6"/>
            <p:cNvSpPr/>
            <p:nvPr/>
          </p:nvSpPr>
          <p:spPr>
            <a:xfrm flipH="false" flipV="false" rot="0">
              <a:off x="0" y="0"/>
              <a:ext cx="8475980" cy="8475980"/>
            </a:xfrm>
            <a:custGeom>
              <a:avLst/>
              <a:gdLst/>
              <a:ahLst/>
              <a:cxnLst/>
              <a:rect r="r" b="b" t="t" l="l"/>
              <a:pathLst>
                <a:path h="8475980" w="8475980">
                  <a:moveTo>
                    <a:pt x="0" y="0"/>
                  </a:moveTo>
                  <a:lnTo>
                    <a:pt x="8475980" y="0"/>
                  </a:lnTo>
                  <a:lnTo>
                    <a:pt x="8475980" y="8475980"/>
                  </a:lnTo>
                  <a:lnTo>
                    <a:pt x="0" y="8475980"/>
                  </a:lnTo>
                  <a:lnTo>
                    <a:pt x="0" y="0"/>
                  </a:lnTo>
                  <a:close/>
                </a:path>
              </a:pathLst>
            </a:custGeom>
            <a:blipFill>
              <a:blip r:embed="rId2"/>
              <a:stretch>
                <a:fillRect l="0" t="0" r="0" b="0"/>
              </a:stretch>
            </a:blipFill>
          </p:spPr>
        </p:sp>
      </p:grpSp>
      <p:sp>
        <p:nvSpPr>
          <p:cNvPr name="TextBox 7" id="7"/>
          <p:cNvSpPr txBox="true"/>
          <p:nvPr/>
        </p:nvSpPr>
        <p:spPr>
          <a:xfrm rot="0">
            <a:off x="1463025" y="4912276"/>
            <a:ext cx="9544950" cy="2743200"/>
          </a:xfrm>
          <a:prstGeom prst="rect">
            <a:avLst/>
          </a:prstGeom>
        </p:spPr>
        <p:txBody>
          <a:bodyPr anchor="t" rtlCol="false" tIns="0" lIns="0" bIns="0" rIns="0">
            <a:spAutoFit/>
          </a:bodyPr>
          <a:lstStyle/>
          <a:p>
            <a:pPr algn="l">
              <a:lnSpc>
                <a:spcPts val="4320"/>
              </a:lnSpc>
            </a:pPr>
            <a:r>
              <a:rPr lang="en-US" sz="3600">
                <a:solidFill>
                  <a:srgbClr val="263238"/>
                </a:solidFill>
                <a:latin typeface="Source Sans Pro"/>
                <a:ea typeface="Source Sans Pro"/>
                <a:cs typeface="Source Sans Pro"/>
                <a:sym typeface="Source Sans Pro"/>
              </a:rPr>
              <a:t>Hajar Rachid</a:t>
            </a:r>
          </a:p>
          <a:p>
            <a:pPr algn="l">
              <a:lnSpc>
                <a:spcPts val="4320"/>
              </a:lnSpc>
            </a:pPr>
            <a:r>
              <a:rPr lang="en-US" sz="3600">
                <a:solidFill>
                  <a:srgbClr val="263238"/>
                </a:solidFill>
                <a:latin typeface="Source Sans Pro"/>
                <a:ea typeface="Source Sans Pro"/>
                <a:cs typeface="Source Sans Pro"/>
                <a:sym typeface="Source Sans Pro"/>
              </a:rPr>
              <a:t>EST Beni Mellal</a:t>
            </a:r>
          </a:p>
          <a:p>
            <a:pPr algn="l">
              <a:lnSpc>
                <a:spcPts val="4320"/>
              </a:lnSpc>
            </a:pPr>
            <a:r>
              <a:rPr lang="en-US" sz="3600">
                <a:solidFill>
                  <a:srgbClr val="263238"/>
                </a:solidFill>
                <a:latin typeface="Source Sans Pro"/>
                <a:ea typeface="Source Sans Pro"/>
                <a:cs typeface="Source Sans Pro"/>
                <a:sym typeface="Source Sans Pro"/>
              </a:rPr>
              <a:t>Sécurité Informatiques et réseaux </a:t>
            </a:r>
          </a:p>
          <a:p>
            <a:pPr algn="l">
              <a:lnSpc>
                <a:spcPts val="4320"/>
              </a:lnSpc>
            </a:pPr>
            <a:r>
              <a:rPr lang="en-US" sz="3600">
                <a:solidFill>
                  <a:srgbClr val="263238"/>
                </a:solidFill>
                <a:latin typeface="Source Sans Pro"/>
                <a:ea typeface="Source Sans Pro"/>
                <a:cs typeface="Source Sans Pro"/>
                <a:sym typeface="Source Sans Pro"/>
              </a:rPr>
              <a:t>2025/2026</a:t>
            </a:r>
          </a:p>
          <a:p>
            <a:pPr algn="l">
              <a:lnSpc>
                <a:spcPts val="4320"/>
              </a:lnSpc>
            </a:pP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DAG384EwU6A</dc:identifier>
  <dcterms:modified xsi:type="dcterms:W3CDTF">2011-08-01T06:04:30Z</dcterms:modified>
  <cp:revision>1</cp:revision>
  <dc:title>Stage-initiation-présentation.pptx</dc:title>
</cp:coreProperties>
</file>